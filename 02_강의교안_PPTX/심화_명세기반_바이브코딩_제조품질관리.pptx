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오프닝: 3일 과정에서 '돌아가는 도구'를 만들었다면, 오늘은 '믿고 쓸 수 있는 도구'로 만듭니다. 코딩을 더 배우는 시간이 아니라, 여러분이 공장에서 이미 알고 있는 품질관리 방식을 소프트웨어에 옮기는 시간입니다.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시작 시각은 운영 일정에 맞춰 조정합니다. 경과 시간 기준으로 표기했습니다.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데모를 직접 열어 할인 슬라이더를 15%로 맞추고 MOT-500A 행을 보여줍니다. 강사 교안의 수치는 저장소의 예제 코드와 샘플 CSV로 직접 계산해 확인한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마진 미달 시작 할인율 = 1 - 제조원가 / (1 - 최소승인마진율) / 표준단가. 무경고 구간은 그 값에서 권장할인한도를 뺀 차이입니다. 질문: 내 MVP에도 데이터에는 있는데 판정에 쓰이지 않는 컬럼이 있습니까?</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오늘 과정 전체의 지도입니다. 파일명은 예시이며 부서 표준 용어로 바꿔도 됩니다. 문서는 네 장이고 추가 프로그램 설치가 필요 없어 보안 PC에서도 그대로 적용할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수량은 금액 계산에만 쓰이고 판정에는 영향이 없다는 점을 짚어 줍니다. 실제 사내 규정은 교육장에 가져오지 않고 가명 구조만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예제는 A/B를 구분하지 못합니다. 칸의 내용은 교육용 가정이므로 조별로 다른 답이 나와도 좋습니다. 중요한 것은 AI가 아니라 업무 책임자가 칸을 채운다는 점입니다. 판정 C는 샘플 5개 품목에서 재현되지 않으므로, 검사기준에서 테스트 품목을 따로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3번 질문이 Session 1에서 본 누락을 잡는 질문입니다. 수강생의 MVP에서 실제로 무엇이 나왔는지 2~3명에게 공유받습니다.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Claude Code 공식 문서 'How Claude remembers your project'. 200줄 목표, @path import, CLAUDE.md가 강제 설정이 아닌 맥락으로 취급된다는 내용이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TEST-01: 표준단가 100, 제조원가 80, 한도 10, 최소마진 25. TEST-02: 표준단가 100, 제조원가 75, 한도 10, 최소마진 25. 테스트 품목은 검사 전용 합성 데이터로, 실제 출력에는 나타나지 않게 합니다. 수강생은 첫 3건을 엑셀로 직접 검산합니다.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핵심은 화면과 검사가 같은 함수를 쓰는 것입니다. 검사 전용 사본을 만들면 화면이 틀려도 검사는 통과합니다. '일부러 틀려 보기'로 검사가 실제로 불합격을 잡는지 반드시 확인시킵니다.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공장의 4M(사람, 설비, 자재, 방법) 변경점 관리를 떠올리게 합니다. 사무 도구에서는 규정·데이터·사람·도구로 바꿔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변경 전후 마진율은 샘플 CSV 기준으로 계산했습니다. 할인 12%는 단가 598.40, 13%는 591.60, 15%는 578.00입니다. 13% 사례가 이번 변경의 영향을 실제로 받는 입력입니다.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Claude Code 공식 문서 Checkpointing, Best practices. 체크포인트는 세션 단위의 빠른 복구 수단이며 버전 관리를 대체하지 않는다고 문서에 명시되어 있습니다. 교육장 PC의 Git 사용 가능 여부는 사전에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질문의 답은 부서마다 다릅니다. 모범 답안을 주지 말고 각자 도면에 기록하게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7대 테스트 체크리스트가 '동작'을 본다면, 이 심사표는 '믿을 수 있는 근거'를 봅니다. 3번과 4번에서 가장 많이 걸립니다.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마무리 질문: 내 도구가 틀렸을 때 가장 큰 손해를 보는 판정은 무엇입니까? 그 판정 하나부터 도면을 그립니다.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조회일 2026-10-31. 판정표와 변경 통보는 교육용 가정임을 수강생에게 분명히 알립니다.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463040"/>
            <a:ext cx="109728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37360"/>
            <a:ext cx="10515600" cy="2926080"/>
          </a:xfrm>
          <a:prstGeom prst="rect">
            <a:avLst/>
          </a:prstGeom>
          <a:noFill/>
        </p:spPr>
        <p:txBody>
          <a:bodyPr wrap="square">
            <a:spAutoFit/>
          </a:bodyPr>
          <a:lstStyle/>
          <a:p>
            <a:pPr>
              <a:defRPr sz="1600" b="1">
                <a:solidFill>
                  <a:srgbClr val="60A5FA"/>
                </a:solidFill>
                <a:latin typeface="맑은 고딕"/>
              </a:defRPr>
            </a:pPr>
            <a:r>
              <a:t>심화 모듈 · 4H · 3일 과정 수료자 대상</a:t>
            </a:r>
          </a:p>
          <a:p>
            <a:pPr>
              <a:spcBef>
                <a:spcPts val="1200"/>
              </a:spcBef>
              <a:defRPr sz="3600" b="1">
                <a:solidFill>
                  <a:srgbClr val="FFFFFF"/>
                </a:solidFill>
                <a:latin typeface="맑은 고딕"/>
              </a:defRPr>
            </a:pPr>
            <a:r>
              <a:t>도면 없이 만들면 불량이 납니다</a:t>
            </a:r>
          </a:p>
          <a:p>
            <a:pPr>
              <a:spcBef>
                <a:spcPts val="1600"/>
              </a:spcBef>
              <a:defRPr sz="1800">
                <a:solidFill>
                  <a:srgbClr val="CBD5E1"/>
                </a:solidFill>
                <a:latin typeface="맑은 고딕"/>
              </a:defRPr>
            </a:pPr>
            <a:r>
              <a:t>공장의 품질관리 방식으로 바이브코딩 MVP를 검증하고 변경하는 법</a:t>
            </a:r>
          </a:p>
        </p:txBody>
      </p:sp>
      <p:sp>
        <p:nvSpPr>
          <p:cNvPr id="5" name="Rounded Rectangle 4"/>
          <p:cNvSpPr/>
          <p:nvPr/>
        </p:nvSpPr>
        <p:spPr>
          <a:xfrm>
            <a:off x="731520" y="4663440"/>
            <a:ext cx="2560320" cy="1325880"/>
          </a:xfrm>
          <a:prstGeom prst="roundRect">
            <a:avLst/>
          </a:prstGeom>
          <a:solidFill>
            <a:srgbClr val="1E293B"/>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0A5FA"/>
                </a:solidFill>
                <a:latin typeface="맑은 고딕"/>
              </a:defRPr>
            </a:pPr>
            <a:r>
              <a:t>교육 대상</a:t>
            </a:r>
          </a:p>
          <a:p>
            <a:pPr>
              <a:spcBef>
                <a:spcPts val="600"/>
              </a:spcBef>
              <a:defRPr sz="1300" b="1">
                <a:solidFill>
                  <a:srgbClr val="FFFFFF"/>
                </a:solidFill>
                <a:latin typeface="맑은 고딕"/>
              </a:defRPr>
            </a:pPr>
            <a:r>
              <a:t>3일 과정 수료자</a:t>
            </a:r>
            <a:br/>
            <a:r>
              <a:t>MVP v2 보유 비전공 실무자</a:t>
            </a:r>
          </a:p>
        </p:txBody>
      </p:sp>
      <p:sp>
        <p:nvSpPr>
          <p:cNvPr id="6" name="Rounded Rectangle 5"/>
          <p:cNvSpPr/>
          <p:nvPr/>
        </p:nvSpPr>
        <p:spPr>
          <a:xfrm>
            <a:off x="3474720" y="4663440"/>
            <a:ext cx="2560320" cy="1325880"/>
          </a:xfrm>
          <a:prstGeom prst="roundRect">
            <a:avLst/>
          </a:prstGeom>
          <a:solidFill>
            <a:srgbClr val="1E293B"/>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0A5FA"/>
                </a:solidFill>
                <a:latin typeface="맑은 고딕"/>
              </a:defRPr>
            </a:pPr>
            <a:r>
              <a:t>대표 사례</a:t>
            </a:r>
          </a:p>
          <a:p>
            <a:pPr>
              <a:spcBef>
                <a:spcPts val="600"/>
              </a:spcBef>
              <a:defRPr sz="1300" b="1">
                <a:solidFill>
                  <a:srgbClr val="FFFFFF"/>
                </a:solidFill>
                <a:latin typeface="맑은 고딕"/>
              </a:defRPr>
            </a:pPr>
            <a:r>
              <a:t>B2B 제조 제품</a:t>
            </a:r>
            <a:br/>
            <a:r>
              <a:t>스마트 견적 &amp; 마진 검증기</a:t>
            </a:r>
          </a:p>
        </p:txBody>
      </p:sp>
      <p:sp>
        <p:nvSpPr>
          <p:cNvPr id="7" name="Rounded Rectangle 6"/>
          <p:cNvSpPr/>
          <p:nvPr/>
        </p:nvSpPr>
        <p:spPr>
          <a:xfrm>
            <a:off x="6217920" y="4663440"/>
            <a:ext cx="2560320" cy="1325880"/>
          </a:xfrm>
          <a:prstGeom prst="roundRect">
            <a:avLst/>
          </a:prstGeom>
          <a:solidFill>
            <a:srgbClr val="1E293B"/>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0A5FA"/>
                </a:solidFill>
                <a:latin typeface="맑은 고딕"/>
              </a:defRPr>
            </a:pPr>
            <a:r>
              <a:t>핵심 도구</a:t>
            </a:r>
          </a:p>
          <a:p>
            <a:pPr>
              <a:spcBef>
                <a:spcPts val="600"/>
              </a:spcBef>
              <a:defRPr sz="1300" b="1">
                <a:solidFill>
                  <a:srgbClr val="FFFFFF"/>
                </a:solidFill>
                <a:latin typeface="맑은 고딕"/>
              </a:defRPr>
            </a:pPr>
            <a:r>
              <a:t>Claude Code · CLAUDE.md</a:t>
            </a:r>
            <a:br/>
            <a:r>
              <a:t>추가 설치 없음</a:t>
            </a:r>
          </a:p>
        </p:txBody>
      </p:sp>
      <p:sp>
        <p:nvSpPr>
          <p:cNvPr id="8" name="Rounded Rectangle 7"/>
          <p:cNvSpPr/>
          <p:nvPr/>
        </p:nvSpPr>
        <p:spPr>
          <a:xfrm>
            <a:off x="8961120" y="4663440"/>
            <a:ext cx="2560320" cy="1325880"/>
          </a:xfrm>
          <a:prstGeom prst="roundRect">
            <a:avLst/>
          </a:prstGeom>
          <a:solidFill>
            <a:srgbClr val="1E293B"/>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0A5FA"/>
                </a:solidFill>
                <a:latin typeface="맑은 고딕"/>
              </a:defRPr>
            </a:pPr>
            <a:r>
              <a:t>오늘의 산출물</a:t>
            </a:r>
          </a:p>
          <a:p>
            <a:pPr>
              <a:spcBef>
                <a:spcPts val="600"/>
              </a:spcBef>
              <a:defRPr sz="1300" b="1">
                <a:solidFill>
                  <a:srgbClr val="FFFFFF"/>
                </a:solidFill>
                <a:latin typeface="맑은 고딕"/>
              </a:defRPr>
            </a:pPr>
            <a:r>
              <a:t>문서 4장 세트 +</a:t>
            </a:r>
            <a:br/>
            <a:r>
              <a:t>자가검사가 붙은 MVP v3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심화 모듈 타임테이블</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오늘의 진행 순서와 산출물 (총 4시간)</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강의는 짧게, 각자의 MVP에 바로 적용하며 진행합니다</a:t>
            </a:r>
          </a:p>
        </p:txBody>
      </p:sp>
      <p:graphicFrame>
        <p:nvGraphicFramePr>
          <p:cNvPr id="7" name="Table 6"/>
          <p:cNvGraphicFramePr>
            <a:graphicFrameLocks noGrp="1"/>
          </p:cNvGraphicFramePr>
          <p:nvPr/>
        </p:nvGraphicFramePr>
        <p:xfrm>
          <a:off x="548640" y="1417320"/>
          <a:ext cx="11064240" cy="4663440"/>
        </p:xfrm>
        <a:graphic>
          <a:graphicData uri="http://schemas.openxmlformats.org/drawingml/2006/table">
            <a:tbl>
              <a:tblPr firstRow="1" bandRow="1">
                <a:tableStyleId>{5C22544A-7EE6-4342-B048-85BDC9FD1C3A}</a:tableStyleId>
              </a:tblPr>
              <a:tblGrid>
                <a:gridCol w="2766060"/>
                <a:gridCol w="2766060"/>
                <a:gridCol w="2766060"/>
                <a:gridCol w="2766060"/>
              </a:tblGrid>
              <a:tr h="582930">
                <a:tc>
                  <a:txBody>
                    <a:bodyPr/>
                    <a:lstStyle/>
                    <a:p>
                      <a:pPr>
                        <a:defRPr sz="1150" b="1">
                          <a:solidFill>
                            <a:srgbClr val="FFFFFF"/>
                          </a:solidFill>
                          <a:latin typeface="맑은 고딕"/>
                        </a:defRPr>
                      </a:pPr>
                      <a:r>
                        <a:t>경과 시간</a:t>
                      </a:r>
                    </a:p>
                  </a:txBody>
                  <a:tcPr>
                    <a:solidFill>
                      <a:srgbClr val="0F172A"/>
                    </a:solidFill>
                  </a:tcPr>
                </a:tc>
                <a:tc>
                  <a:txBody>
                    <a:bodyPr/>
                    <a:lstStyle/>
                    <a:p>
                      <a:pPr>
                        <a:defRPr sz="1150" b="1">
                          <a:solidFill>
                            <a:srgbClr val="FFFFFF"/>
                          </a:solidFill>
                          <a:latin typeface="맑은 고딕"/>
                        </a:defRPr>
                      </a:pPr>
                      <a:r>
                        <a:t>세션명</a:t>
                      </a:r>
                    </a:p>
                  </a:txBody>
                  <a:tcPr>
                    <a:solidFill>
                      <a:srgbClr val="0F172A"/>
                    </a:solidFill>
                  </a:tcPr>
                </a:tc>
                <a:tc>
                  <a:txBody>
                    <a:bodyPr/>
                    <a:lstStyle/>
                    <a:p>
                      <a:pPr>
                        <a:defRPr sz="1150" b="1">
                          <a:solidFill>
                            <a:srgbClr val="FFFFFF"/>
                          </a:solidFill>
                          <a:latin typeface="맑은 고딕"/>
                        </a:defRPr>
                      </a:pPr>
                      <a:r>
                        <a:t>주요 활동</a:t>
                      </a:r>
                    </a:p>
                  </a:txBody>
                  <a:tcPr>
                    <a:solidFill>
                      <a:srgbClr val="0F172A"/>
                    </a:solidFill>
                  </a:tcPr>
                </a:tc>
                <a:tc>
                  <a:txBody>
                    <a:bodyPr/>
                    <a:lstStyle/>
                    <a:p>
                      <a:pPr>
                        <a:defRPr sz="1150" b="1">
                          <a:solidFill>
                            <a:srgbClr val="FFFFFF"/>
                          </a:solidFill>
                          <a:latin typeface="맑은 고딕"/>
                        </a:defRPr>
                      </a:pPr>
                      <a:r>
                        <a:t>산출물</a:t>
                      </a:r>
                    </a:p>
                  </a:txBody>
                  <a:tcPr>
                    <a:solidFill>
                      <a:srgbClr val="0F172A"/>
                    </a:solidFill>
                  </a:tcPr>
                </a:tc>
              </a:tr>
              <a:tr h="582930">
                <a:tc>
                  <a:txBody>
                    <a:bodyPr/>
                    <a:lstStyle/>
                    <a:p>
                      <a:pPr>
                        <a:defRPr sz="1100" b="1">
                          <a:solidFill>
                            <a:srgbClr val="1E293B"/>
                          </a:solidFill>
                          <a:latin typeface="맑은 고딕"/>
                        </a:defRPr>
                      </a:pPr>
                      <a:r>
                        <a:t>0:00–0:30</a:t>
                      </a:r>
                    </a:p>
                  </a:txBody>
                  <a:tcPr>
                    <a:solidFill>
                      <a:srgbClr val="FFFFFF"/>
                    </a:solidFill>
                  </a:tcPr>
                </a:tc>
                <a:tc>
                  <a:txBody>
                    <a:bodyPr/>
                    <a:lstStyle/>
                    <a:p>
                      <a:pPr>
                        <a:defRPr sz="1100" b="0">
                          <a:solidFill>
                            <a:srgbClr val="1E293B"/>
                          </a:solidFill>
                          <a:latin typeface="맑은 고딕"/>
                        </a:defRPr>
                      </a:pPr>
                      <a:r>
                        <a:t>1. 불량 진단</a:t>
                      </a:r>
                    </a:p>
                  </a:txBody>
                  <a:tcPr>
                    <a:solidFill>
                      <a:srgbClr val="FFFFFF"/>
                    </a:solidFill>
                  </a:tcPr>
                </a:tc>
                <a:tc>
                  <a:txBody>
                    <a:bodyPr/>
                    <a:lstStyle/>
                    <a:p>
                      <a:pPr>
                        <a:defRPr sz="1100" b="0">
                          <a:solidFill>
                            <a:srgbClr val="1E293B"/>
                          </a:solidFill>
                          <a:latin typeface="맑은 고딕"/>
                        </a:defRPr>
                      </a:pPr>
                      <a:r>
                        <a:t>견적 예제에서 실제로 발견된 판정 누락을 함께 재현</a:t>
                      </a:r>
                    </a:p>
                  </a:txBody>
                  <a:tcPr>
                    <a:solidFill>
                      <a:srgbClr val="FFFFFF"/>
                    </a:solidFill>
                  </a:tcPr>
                </a:tc>
                <a:tc>
                  <a:txBody>
                    <a:bodyPr/>
                    <a:lstStyle/>
                    <a:p>
                      <a:pPr>
                        <a:defRPr sz="1100" b="0">
                          <a:solidFill>
                            <a:srgbClr val="1E293B"/>
                          </a:solidFill>
                          <a:latin typeface="맑은 고딕"/>
                        </a:defRPr>
                      </a:pPr>
                      <a:r>
                        <a:t>내 MVP의 의심 지점 3개</a:t>
                      </a:r>
                    </a:p>
                  </a:txBody>
                  <a:tcPr>
                    <a:solidFill>
                      <a:srgbClr val="FFFFFF"/>
                    </a:solidFill>
                  </a:tcPr>
                </a:tc>
              </a:tr>
              <a:tr h="582930">
                <a:tc>
                  <a:txBody>
                    <a:bodyPr/>
                    <a:lstStyle/>
                    <a:p>
                      <a:pPr>
                        <a:defRPr sz="1100" b="1">
                          <a:solidFill>
                            <a:srgbClr val="1E293B"/>
                          </a:solidFill>
                          <a:latin typeface="맑은 고딕"/>
                        </a:defRPr>
                      </a:pPr>
                      <a:r>
                        <a:t>0:30–1:10</a:t>
                      </a:r>
                    </a:p>
                  </a:txBody>
                  <a:tcPr>
                    <a:solidFill>
                      <a:srgbClr val="F1F5F9"/>
                    </a:solidFill>
                  </a:tcPr>
                </a:tc>
                <a:tc>
                  <a:txBody>
                    <a:bodyPr/>
                    <a:lstStyle/>
                    <a:p>
                      <a:pPr>
                        <a:defRPr sz="1100" b="0">
                          <a:solidFill>
                            <a:srgbClr val="1E293B"/>
                          </a:solidFill>
                          <a:latin typeface="맑은 고딕"/>
                        </a:defRPr>
                      </a:pPr>
                      <a:r>
                        <a:t>2. 요구도면 &amp; 판정표</a:t>
                      </a:r>
                    </a:p>
                  </a:txBody>
                  <a:tcPr>
                    <a:solidFill>
                      <a:srgbClr val="F1F5F9"/>
                    </a:solidFill>
                  </a:tcPr>
                </a:tc>
                <a:tc>
                  <a:txBody>
                    <a:bodyPr/>
                    <a:lstStyle/>
                    <a:p>
                      <a:pPr>
                        <a:defRPr sz="1100" b="0">
                          <a:solidFill>
                            <a:srgbClr val="1E293B"/>
                          </a:solidFill>
                          <a:latin typeface="맑은 고딕"/>
                        </a:defRPr>
                      </a:pPr>
                      <a:r>
                        <a:t>규칙을 문장에서 판정표로 옮기고 AI로 빠진 칸 찾기</a:t>
                      </a:r>
                    </a:p>
                  </a:txBody>
                  <a:tcPr>
                    <a:solidFill>
                      <a:srgbClr val="F1F5F9"/>
                    </a:solidFill>
                  </a:tcPr>
                </a:tc>
                <a:tc>
                  <a:txBody>
                    <a:bodyPr/>
                    <a:lstStyle/>
                    <a:p>
                      <a:pPr>
                        <a:defRPr sz="1100" b="0">
                          <a:solidFill>
                            <a:srgbClr val="1E293B"/>
                          </a:solidFill>
                          <a:latin typeface="맑은 고딕"/>
                        </a:defRPr>
                      </a:pPr>
                      <a:r>
                        <a:t>docs/요구도면.md</a:t>
                      </a:r>
                    </a:p>
                  </a:txBody>
                  <a:tcPr>
                    <a:solidFill>
                      <a:srgbClr val="F1F5F9"/>
                    </a:solidFill>
                  </a:tcPr>
                </a:tc>
              </a:tr>
              <a:tr h="582930">
                <a:tc>
                  <a:txBody>
                    <a:bodyPr/>
                    <a:lstStyle/>
                    <a:p>
                      <a:pPr>
                        <a:defRPr sz="1100" b="1">
                          <a:solidFill>
                            <a:srgbClr val="1E293B"/>
                          </a:solidFill>
                          <a:latin typeface="맑은 고딕"/>
                        </a:defRPr>
                      </a:pPr>
                      <a:r>
                        <a:t>1:10–1:50</a:t>
                      </a:r>
                    </a:p>
                  </a:txBody>
                  <a:tcPr>
                    <a:solidFill>
                      <a:srgbClr val="FFFFFF"/>
                    </a:solidFill>
                  </a:tcPr>
                </a:tc>
                <a:tc>
                  <a:txBody>
                    <a:bodyPr/>
                    <a:lstStyle/>
                    <a:p>
                      <a:pPr>
                        <a:defRPr sz="1100" b="0">
                          <a:solidFill>
                            <a:srgbClr val="1E293B"/>
                          </a:solidFill>
                          <a:latin typeface="맑은 고딕"/>
                        </a:defRPr>
                      </a:pPr>
                      <a:r>
                        <a:t>3. 작업표준 &amp; 검사기준</a:t>
                      </a:r>
                    </a:p>
                  </a:txBody>
                  <a:tcPr>
                    <a:solidFill>
                      <a:srgbClr val="FFFFFF"/>
                    </a:solidFill>
                  </a:tcPr>
                </a:tc>
                <a:tc>
                  <a:txBody>
                    <a:bodyPr/>
                    <a:lstStyle/>
                    <a:p>
                      <a:pPr>
                        <a:defRPr sz="1100" b="0">
                          <a:solidFill>
                            <a:srgbClr val="1E293B"/>
                          </a:solidFill>
                          <a:latin typeface="맑은 고딕"/>
                        </a:defRPr>
                      </a:pPr>
                      <a:r>
                        <a:t>CLAUDE.md 정비, 정답값이 적힌 검사 사례 작성</a:t>
                      </a:r>
                    </a:p>
                  </a:txBody>
                  <a:tcPr>
                    <a:solidFill>
                      <a:srgbClr val="FFFFFF"/>
                    </a:solidFill>
                  </a:tcPr>
                </a:tc>
                <a:tc>
                  <a:txBody>
                    <a:bodyPr/>
                    <a:lstStyle/>
                    <a:p>
                      <a:pPr>
                        <a:defRPr sz="1100" b="0">
                          <a:solidFill>
                            <a:srgbClr val="1E293B"/>
                          </a:solidFill>
                          <a:latin typeface="맑은 고딕"/>
                        </a:defRPr>
                      </a:pPr>
                      <a:r>
                        <a:t>CLAUDE.md, docs/검사기준.md</a:t>
                      </a:r>
                    </a:p>
                  </a:txBody>
                  <a:tcPr>
                    <a:solidFill>
                      <a:srgbClr val="FFFFFF"/>
                    </a:solidFill>
                  </a:tcPr>
                </a:tc>
              </a:tr>
              <a:tr h="582930">
                <a:tc>
                  <a:txBody>
                    <a:bodyPr/>
                    <a:lstStyle/>
                    <a:p>
                      <a:pPr>
                        <a:defRPr sz="1100" b="1">
                          <a:solidFill>
                            <a:srgbClr val="1E293B"/>
                          </a:solidFill>
                          <a:latin typeface="맑은 고딕"/>
                        </a:defRPr>
                      </a:pPr>
                      <a:r>
                        <a:t>1:50–2:00</a:t>
                      </a:r>
                    </a:p>
                  </a:txBody>
                  <a:tcPr>
                    <a:solidFill>
                      <a:srgbClr val="F1F5F9"/>
                    </a:solidFill>
                  </a:tcPr>
                </a:tc>
                <a:tc>
                  <a:txBody>
                    <a:bodyPr/>
                    <a:lstStyle/>
                    <a:p>
                      <a:pPr>
                        <a:defRPr sz="1100" b="0">
                          <a:solidFill>
                            <a:srgbClr val="1E293B"/>
                          </a:solidFill>
                          <a:latin typeface="맑은 고딕"/>
                        </a:defRPr>
                      </a:pPr>
                      <a:r>
                        <a:t>휴식 (Break)</a:t>
                      </a:r>
                    </a:p>
                  </a:txBody>
                  <a:tcPr>
                    <a:solidFill>
                      <a:srgbClr val="F1F5F9"/>
                    </a:solidFill>
                  </a:tcPr>
                </a:tc>
                <a:tc>
                  <a:txBody>
                    <a:bodyPr/>
                    <a:lstStyle/>
                    <a:p>
                      <a:pPr>
                        <a:defRPr sz="1100" b="0">
                          <a:solidFill>
                            <a:srgbClr val="1E293B"/>
                          </a:solidFill>
                          <a:latin typeface="맑은 고딕"/>
                        </a:defRPr>
                      </a:pPr>
                      <a:r>
                        <a:t>환경 점검 및 개별 질의응답</a:t>
                      </a:r>
                    </a:p>
                  </a:txBody>
                  <a:tcPr>
                    <a:solidFill>
                      <a:srgbClr val="F1F5F9"/>
                    </a:solidFill>
                  </a:tcPr>
                </a:tc>
                <a:tc>
                  <a:txBody>
                    <a:bodyPr/>
                    <a:lstStyle/>
                    <a:p>
                      <a:pPr>
                        <a:defRPr sz="1100" b="0">
                          <a:solidFill>
                            <a:srgbClr val="1E293B"/>
                          </a:solidFill>
                          <a:latin typeface="맑은 고딕"/>
                        </a:defRPr>
                      </a:pPr>
                      <a:r>
                        <a:t>-</a:t>
                      </a:r>
                    </a:p>
                  </a:txBody>
                  <a:tcPr>
                    <a:solidFill>
                      <a:srgbClr val="F1F5F9"/>
                    </a:solidFill>
                  </a:tcPr>
                </a:tc>
              </a:tr>
              <a:tr h="582930">
                <a:tc>
                  <a:txBody>
                    <a:bodyPr/>
                    <a:lstStyle/>
                    <a:p>
                      <a:pPr>
                        <a:defRPr sz="1100" b="1">
                          <a:solidFill>
                            <a:srgbClr val="1E293B"/>
                          </a:solidFill>
                          <a:latin typeface="맑은 고딕"/>
                        </a:defRPr>
                      </a:pPr>
                      <a:r>
                        <a:t>2:00–3:00</a:t>
                      </a:r>
                    </a:p>
                  </a:txBody>
                  <a:tcPr>
                    <a:solidFill>
                      <a:srgbClr val="FFFFFF"/>
                    </a:solidFill>
                  </a:tcPr>
                </a:tc>
                <a:tc>
                  <a:txBody>
                    <a:bodyPr/>
                    <a:lstStyle/>
                    <a:p>
                      <a:pPr>
                        <a:defRPr sz="1100" b="0">
                          <a:solidFill>
                            <a:srgbClr val="1E293B"/>
                          </a:solidFill>
                          <a:latin typeface="맑은 고딕"/>
                        </a:defRPr>
                      </a:pPr>
                      <a:r>
                        <a:t>4. 자가검사 구현 (PBL)</a:t>
                      </a:r>
                    </a:p>
                  </a:txBody>
                  <a:tcPr>
                    <a:solidFill>
                      <a:srgbClr val="FFFFFF"/>
                    </a:solidFill>
                  </a:tcPr>
                </a:tc>
                <a:tc>
                  <a:txBody>
                    <a:bodyPr/>
                    <a:lstStyle/>
                    <a:p>
                      <a:pPr>
                        <a:defRPr sz="1100" b="0">
                          <a:solidFill>
                            <a:srgbClr val="1E293B"/>
                          </a:solidFill>
                          <a:latin typeface="맑은 고딕"/>
                        </a:defRPr>
                      </a:pPr>
                      <a:r>
                        <a:t>검사기준을 화면의 자가검사 버튼으로 구현</a:t>
                      </a:r>
                    </a:p>
                  </a:txBody>
                  <a:tcPr>
                    <a:solidFill>
                      <a:srgbClr val="FFFFFF"/>
                    </a:solidFill>
                  </a:tcPr>
                </a:tc>
                <a:tc>
                  <a:txBody>
                    <a:bodyPr/>
                    <a:lstStyle/>
                    <a:p>
                      <a:pPr>
                        <a:defRPr sz="1100" b="0">
                          <a:solidFill>
                            <a:srgbClr val="1E293B"/>
                          </a:solidFill>
                          <a:latin typeface="맑은 고딕"/>
                        </a:defRPr>
                      </a:pPr>
                      <a:r>
                        <a:t>MVP v3</a:t>
                      </a:r>
                    </a:p>
                  </a:txBody>
                  <a:tcPr>
                    <a:solidFill>
                      <a:srgbClr val="FFFFFF"/>
                    </a:solidFill>
                  </a:tcPr>
                </a:tc>
              </a:tr>
              <a:tr h="582930">
                <a:tc>
                  <a:txBody>
                    <a:bodyPr/>
                    <a:lstStyle/>
                    <a:p>
                      <a:pPr>
                        <a:defRPr sz="1100" b="1">
                          <a:solidFill>
                            <a:srgbClr val="1E293B"/>
                          </a:solidFill>
                          <a:latin typeface="맑은 고딕"/>
                        </a:defRPr>
                      </a:pPr>
                      <a:r>
                        <a:t>3:00–3:40</a:t>
                      </a:r>
                    </a:p>
                  </a:txBody>
                  <a:tcPr>
                    <a:solidFill>
                      <a:srgbClr val="F1F5F9"/>
                    </a:solidFill>
                  </a:tcPr>
                </a:tc>
                <a:tc>
                  <a:txBody>
                    <a:bodyPr/>
                    <a:lstStyle/>
                    <a:p>
                      <a:pPr>
                        <a:defRPr sz="1100" b="0">
                          <a:solidFill>
                            <a:srgbClr val="1E293B"/>
                          </a:solidFill>
                          <a:latin typeface="맑은 고딕"/>
                        </a:defRPr>
                      </a:pPr>
                      <a:r>
                        <a:t>5. 변경점 관리 실습</a:t>
                      </a:r>
                    </a:p>
                  </a:txBody>
                  <a:tcPr>
                    <a:solidFill>
                      <a:srgbClr val="F1F5F9"/>
                    </a:solidFill>
                  </a:tcPr>
                </a:tc>
                <a:tc>
                  <a:txBody>
                    <a:bodyPr/>
                    <a:lstStyle/>
                    <a:p>
                      <a:pPr>
                        <a:defRPr sz="1100" b="0">
                          <a:solidFill>
                            <a:srgbClr val="1E293B"/>
                          </a:solidFill>
                          <a:latin typeface="맑은 고딕"/>
                        </a:defRPr>
                      </a:pPr>
                      <a:r>
                        <a:t>규정 변경 통보를 받아 도면부터 순서대로 반영</a:t>
                      </a:r>
                    </a:p>
                  </a:txBody>
                  <a:tcPr>
                    <a:solidFill>
                      <a:srgbClr val="F1F5F9"/>
                    </a:solidFill>
                  </a:tcPr>
                </a:tc>
                <a:tc>
                  <a:txBody>
                    <a:bodyPr/>
                    <a:lstStyle/>
                    <a:p>
                      <a:pPr>
                        <a:defRPr sz="1100" b="0">
                          <a:solidFill>
                            <a:srgbClr val="1E293B"/>
                          </a:solidFill>
                          <a:latin typeface="맑은 고딕"/>
                        </a:defRPr>
                      </a:pPr>
                      <a:r>
                        <a:t>docs/변경이력.md</a:t>
                      </a:r>
                    </a:p>
                  </a:txBody>
                  <a:tcPr>
                    <a:solidFill>
                      <a:srgbClr val="F1F5F9"/>
                    </a:solidFill>
                  </a:tcPr>
                </a:tc>
              </a:tr>
              <a:tr h="582930">
                <a:tc>
                  <a:txBody>
                    <a:bodyPr/>
                    <a:lstStyle/>
                    <a:p>
                      <a:pPr>
                        <a:defRPr sz="1100" b="1">
                          <a:solidFill>
                            <a:srgbClr val="1E293B"/>
                          </a:solidFill>
                          <a:latin typeface="맑은 고딕"/>
                        </a:defRPr>
                      </a:pPr>
                      <a:r>
                        <a:t>3:40–4:00</a:t>
                      </a:r>
                    </a:p>
                  </a:txBody>
                  <a:tcPr>
                    <a:solidFill>
                      <a:srgbClr val="FFFFFF"/>
                    </a:solidFill>
                  </a:tcPr>
                </a:tc>
                <a:tc>
                  <a:txBody>
                    <a:bodyPr/>
                    <a:lstStyle/>
                    <a:p>
                      <a:pPr>
                        <a:defRPr sz="1100" b="0">
                          <a:solidFill>
                            <a:srgbClr val="1E293B"/>
                          </a:solidFill>
                          <a:latin typeface="맑은 고딕"/>
                        </a:defRPr>
                      </a:pPr>
                      <a:r>
                        <a:t>6. 출고 심사 &amp; 회고</a:t>
                      </a:r>
                    </a:p>
                  </a:txBody>
                  <a:tcPr>
                    <a:solidFill>
                      <a:srgbClr val="FFFFFF"/>
                    </a:solidFill>
                  </a:tcPr>
                </a:tc>
                <a:tc>
                  <a:txBody>
                    <a:bodyPr/>
                    <a:lstStyle/>
                    <a:p>
                      <a:pPr>
                        <a:defRPr sz="1100" b="0">
                          <a:solidFill>
                            <a:srgbClr val="1E293B"/>
                          </a:solidFill>
                          <a:latin typeface="맑은 고딕"/>
                        </a:defRPr>
                      </a:pPr>
                      <a:r>
                        <a:t>짝꿍 교차 심사, 부서 정착 계획 작성</a:t>
                      </a:r>
                    </a:p>
                  </a:txBody>
                  <a:tcPr>
                    <a:solidFill>
                      <a:srgbClr val="FFFFFF"/>
                    </a:solidFill>
                  </a:tcPr>
                </a:tc>
                <a:tc>
                  <a:txBody>
                    <a:bodyPr/>
                    <a:lstStyle/>
                    <a:p>
                      <a:pPr>
                        <a:defRPr sz="1100" b="0">
                          <a:solidFill>
                            <a:srgbClr val="1E293B"/>
                          </a:solidFill>
                          <a:latin typeface="맑은 고딕"/>
                        </a:defRPr>
                      </a:pPr>
                      <a:r>
                        <a:t>출고 심사표</a:t>
                      </a:r>
                    </a:p>
                  </a:txBody>
                  <a:tcPr>
                    <a:solidFill>
                      <a:srgbClr val="FFFFFF"/>
                    </a:solidFill>
                  </a:tcPr>
                </a:tc>
              </a:tr>
            </a:tbl>
          </a:graphicData>
        </a:graphic>
      </p:graphicFrame>
      <p:sp>
        <p:nvSpPr>
          <p:cNvPr id="8" name="TextBox 7"/>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Session 1 · 불량 진단</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우리 견적 예제에 실제로 숨어 있던 판정 누락</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04_세일즈_스마트견적_및_마진시뮬레이터 · 고효율 서보모터 5kW(MOT-500A), 할인 15%</a:t>
            </a:r>
          </a:p>
        </p:txBody>
      </p:sp>
      <p:sp>
        <p:nvSpPr>
          <p:cNvPr id="7" name="Rounded Rectangle 6"/>
          <p:cNvSpPr/>
          <p:nvPr/>
        </p:nvSpPr>
        <p:spPr>
          <a:xfrm>
            <a:off x="548640" y="1371600"/>
            <a:ext cx="5394959" cy="4434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36192"/>
            <a:ext cx="4992623" cy="4142231"/>
          </a:xfrm>
          <a:prstGeom prst="rect">
            <a:avLst/>
          </a:prstGeom>
          <a:noFill/>
        </p:spPr>
        <p:txBody>
          <a:bodyPr wrap="square">
            <a:spAutoFit/>
          </a:bodyPr>
          <a:lstStyle/>
          <a:p>
            <a:pPr>
              <a:defRPr sz="1500" b="1">
                <a:solidFill>
                  <a:srgbClr val="2563EB"/>
                </a:solidFill>
                <a:latin typeface="맑은 고딕"/>
              </a:defRPr>
            </a:pPr>
            <a:r>
              <a:t>화면이 보여주는 결과</a:t>
            </a:r>
          </a:p>
          <a:p>
            <a:pPr>
              <a:spcBef>
                <a:spcPts val="600"/>
              </a:spcBef>
              <a:defRPr sz="1200">
                <a:solidFill>
                  <a:srgbClr val="1E293B"/>
                </a:solidFill>
                <a:latin typeface="맑은 고딕"/>
              </a:defRPr>
            </a:pPr>
            <a:r>
              <a:t>• 표준단가 185만원 → 할인 적용 단가 157.25만원</a:t>
            </a:r>
          </a:p>
          <a:p>
            <a:pPr>
              <a:spcBef>
                <a:spcPts val="600"/>
              </a:spcBef>
              <a:defRPr sz="1200">
                <a:solidFill>
                  <a:srgbClr val="1E293B"/>
                </a:solidFill>
                <a:latin typeface="맑은 고딕"/>
              </a:defRPr>
            </a:pPr>
            <a:r>
              <a:t>• 제조원가 122만원 기준 마진율 22.4%</a:t>
            </a:r>
          </a:p>
          <a:p>
            <a:pPr>
              <a:spcBef>
                <a:spcPts val="600"/>
              </a:spcBef>
              <a:defRPr sz="1200">
                <a:solidFill>
                  <a:srgbClr val="1E293B"/>
                </a:solidFill>
                <a:latin typeface="맑은 고딕"/>
              </a:defRPr>
            </a:pPr>
            <a:r>
              <a:t>• 최소승인마진 22%를 넘으므로 '즉시발행가능'</a:t>
            </a:r>
          </a:p>
          <a:p>
            <a:pPr>
              <a:spcBef>
                <a:spcPts val="600"/>
              </a:spcBef>
              <a:defRPr sz="1200">
                <a:solidFill>
                  <a:srgbClr val="1E293B"/>
                </a:solidFill>
                <a:latin typeface="맑은 고딕"/>
              </a:defRPr>
            </a:pPr>
            <a:r>
              <a:t>• 계산은 틀리지 않았고, 오류 메시지도 없습니다</a:t>
            </a:r>
          </a:p>
        </p:txBody>
      </p:sp>
      <p:sp>
        <p:nvSpPr>
          <p:cNvPr id="9" name="Rounded Rectangle 8"/>
          <p:cNvSpPr/>
          <p:nvPr/>
        </p:nvSpPr>
        <p:spPr>
          <a:xfrm>
            <a:off x="6217919" y="1371600"/>
            <a:ext cx="5394959" cy="4434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7" y="1536192"/>
            <a:ext cx="4992623" cy="4142231"/>
          </a:xfrm>
          <a:prstGeom prst="rect">
            <a:avLst/>
          </a:prstGeom>
          <a:noFill/>
        </p:spPr>
        <p:txBody>
          <a:bodyPr wrap="square">
            <a:spAutoFit/>
          </a:bodyPr>
          <a:lstStyle/>
          <a:p>
            <a:pPr>
              <a:defRPr sz="1500" b="1">
                <a:solidFill>
                  <a:srgbClr val="2563EB"/>
                </a:solidFill>
                <a:latin typeface="맑은 고딕"/>
              </a:defRPr>
            </a:pPr>
            <a:r>
              <a:t>데이터가 말하고 있던 것</a:t>
            </a:r>
          </a:p>
          <a:p>
            <a:pPr>
              <a:spcBef>
                <a:spcPts val="600"/>
              </a:spcBef>
              <a:defRPr sz="1200">
                <a:solidFill>
                  <a:srgbClr val="1E293B"/>
                </a:solidFill>
                <a:latin typeface="맑은 고딕"/>
              </a:defRPr>
            </a:pPr>
            <a:r>
              <a:t>• 같은 행의 권장할인한도는 12%, 적용 할인은 15%</a:t>
            </a:r>
          </a:p>
          <a:p>
            <a:pPr>
              <a:spcBef>
                <a:spcPts val="600"/>
              </a:spcBef>
              <a:defRPr sz="1200">
                <a:solidFill>
                  <a:srgbClr val="1E293B"/>
                </a:solidFill>
                <a:latin typeface="맑은 고딕"/>
              </a:defRPr>
            </a:pPr>
            <a:r>
              <a:t>• 샘플 CSV에 컬럼이 있는데 판정 로직은 이 값을 쓰지 않음</a:t>
            </a:r>
          </a:p>
          <a:p>
            <a:pPr>
              <a:spcBef>
                <a:spcPts val="600"/>
              </a:spcBef>
              <a:defRPr sz="1200">
                <a:solidFill>
                  <a:srgbClr val="1E293B"/>
                </a:solidFill>
                <a:latin typeface="맑은 고딕"/>
              </a:defRPr>
            </a:pPr>
            <a:r>
              <a:t>• 처음부터 '마진 미달만 경고'로 지시했기 때문에 AI는 시킨 대로 만든 것</a:t>
            </a:r>
          </a:p>
          <a:p>
            <a:pPr>
              <a:spcBef>
                <a:spcPts val="600"/>
              </a:spcBef>
              <a:defRPr sz="1200">
                <a:solidFill>
                  <a:srgbClr val="1E293B"/>
                </a:solidFill>
                <a:latin typeface="맑은 고딕"/>
              </a:defRPr>
            </a:pPr>
            <a:r>
              <a:t>• 결함의 위치는 코드가 아니라 요구사항입니다</a:t>
            </a:r>
          </a:p>
        </p:txBody>
      </p:sp>
      <p:sp>
        <p:nvSpPr>
          <p:cNvPr id="11" name="Rounded Rectangle 10"/>
          <p:cNvSpPr/>
          <p:nvPr/>
        </p:nvSpPr>
        <p:spPr>
          <a:xfrm>
            <a:off x="548640" y="5925312"/>
            <a:ext cx="11064240" cy="438912"/>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0F172A"/>
                </a:solidFill>
                <a:latin typeface="맑은 고딕"/>
              </a:defRPr>
            </a:pPr>
            <a:r>
              <a:t>💡 핵심 포인트: 에러 없이 조용히 틀린 판정이 가장 위험합니다. 고칠 대상은 코드보다 먼저 '무엇을 합격으로 볼지'입니다.</a:t>
            </a:r>
          </a:p>
        </p:txBody>
      </p:sp>
      <p:sp>
        <p:nvSpPr>
          <p:cNvPr id="12" name="TextBox 11"/>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Session 1 · 불량 진단</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경고가 울리기 전까지, 한도를 넘긴 견적이 조용히 통과합니다</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샘플 5개 품목에서 '마진 미달'이 뜨는 할인율은 모두 권장할인한도보다 높습니다</a:t>
            </a:r>
          </a:p>
        </p:txBody>
      </p:sp>
      <p:graphicFrame>
        <p:nvGraphicFramePr>
          <p:cNvPr id="7" name="Table 6"/>
          <p:cNvGraphicFramePr>
            <a:graphicFrameLocks noGrp="1"/>
          </p:cNvGraphicFramePr>
          <p:nvPr/>
        </p:nvGraphicFramePr>
        <p:xfrm>
          <a:off x="548640" y="1417320"/>
          <a:ext cx="11064240" cy="466344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777240">
                <a:tc>
                  <a:txBody>
                    <a:bodyPr/>
                    <a:lstStyle/>
                    <a:p>
                      <a:pPr>
                        <a:defRPr sz="1150" b="1">
                          <a:solidFill>
                            <a:srgbClr val="FFFFFF"/>
                          </a:solidFill>
                          <a:latin typeface="맑은 고딕"/>
                        </a:defRPr>
                      </a:pPr>
                      <a:r>
                        <a:t>품목코드</a:t>
                      </a:r>
                    </a:p>
                  </a:txBody>
                  <a:tcPr>
                    <a:solidFill>
                      <a:srgbClr val="0F172A"/>
                    </a:solidFill>
                  </a:tcPr>
                </a:tc>
                <a:tc>
                  <a:txBody>
                    <a:bodyPr/>
                    <a:lstStyle/>
                    <a:p>
                      <a:pPr>
                        <a:defRPr sz="1150" b="1">
                          <a:solidFill>
                            <a:srgbClr val="FFFFFF"/>
                          </a:solidFill>
                          <a:latin typeface="맑은 고딕"/>
                        </a:defRPr>
                      </a:pPr>
                      <a:r>
                        <a:t>제품명</a:t>
                      </a:r>
                    </a:p>
                  </a:txBody>
                  <a:tcPr>
                    <a:solidFill>
                      <a:srgbClr val="0F172A"/>
                    </a:solidFill>
                  </a:tcPr>
                </a:tc>
                <a:tc>
                  <a:txBody>
                    <a:bodyPr/>
                    <a:lstStyle/>
                    <a:p>
                      <a:pPr>
                        <a:defRPr sz="1150" b="1">
                          <a:solidFill>
                            <a:srgbClr val="FFFFFF"/>
                          </a:solidFill>
                          <a:latin typeface="맑은 고딕"/>
                        </a:defRPr>
                      </a:pPr>
                      <a:r>
                        <a:t>권장할인한도</a:t>
                      </a:r>
                    </a:p>
                  </a:txBody>
                  <a:tcPr>
                    <a:solidFill>
                      <a:srgbClr val="0F172A"/>
                    </a:solidFill>
                  </a:tcPr>
                </a:tc>
                <a:tc>
                  <a:txBody>
                    <a:bodyPr/>
                    <a:lstStyle/>
                    <a:p>
                      <a:pPr>
                        <a:defRPr sz="1150" b="1">
                          <a:solidFill>
                            <a:srgbClr val="FFFFFF"/>
                          </a:solidFill>
                          <a:latin typeface="맑은 고딕"/>
                        </a:defRPr>
                      </a:pPr>
                      <a:r>
                        <a:t>마진 미달 시작 할인율</a:t>
                      </a:r>
                    </a:p>
                  </a:txBody>
                  <a:tcPr>
                    <a:solidFill>
                      <a:srgbClr val="0F172A"/>
                    </a:solidFill>
                  </a:tcPr>
                </a:tc>
                <a:tc>
                  <a:txBody>
                    <a:bodyPr/>
                    <a:lstStyle/>
                    <a:p>
                      <a:pPr>
                        <a:defRPr sz="1150" b="1">
                          <a:solidFill>
                            <a:srgbClr val="FFFFFF"/>
                          </a:solidFill>
                          <a:latin typeface="맑은 고딕"/>
                        </a:defRPr>
                      </a:pPr>
                      <a:r>
                        <a:t>무경고 구간</a:t>
                      </a:r>
                    </a:p>
                  </a:txBody>
                  <a:tcPr>
                    <a:solidFill>
                      <a:srgbClr val="0F172A"/>
                    </a:solidFill>
                  </a:tcPr>
                </a:tc>
              </a:tr>
              <a:tr h="777240">
                <a:tc>
                  <a:txBody>
                    <a:bodyPr/>
                    <a:lstStyle/>
                    <a:p>
                      <a:pPr>
                        <a:defRPr sz="1100" b="1">
                          <a:solidFill>
                            <a:srgbClr val="1E293B"/>
                          </a:solidFill>
                          <a:latin typeface="맑은 고딕"/>
                        </a:defRPr>
                      </a:pPr>
                      <a:r>
                        <a:t>INV-300X</a:t>
                      </a:r>
                    </a:p>
                  </a:txBody>
                  <a:tcPr>
                    <a:solidFill>
                      <a:srgbClr val="FFFFFF"/>
                    </a:solidFill>
                  </a:tcPr>
                </a:tc>
                <a:tc>
                  <a:txBody>
                    <a:bodyPr/>
                    <a:lstStyle/>
                    <a:p>
                      <a:pPr>
                        <a:defRPr sz="1100" b="0">
                          <a:solidFill>
                            <a:srgbClr val="1E293B"/>
                          </a:solidFill>
                          <a:latin typeface="맑은 고딕"/>
                        </a:defRPr>
                      </a:pPr>
                      <a:r>
                        <a:t>스마트 인버터 제어반</a:t>
                      </a:r>
                    </a:p>
                  </a:txBody>
                  <a:tcPr>
                    <a:solidFill>
                      <a:srgbClr val="FFFFFF"/>
                    </a:solidFill>
                  </a:tcPr>
                </a:tc>
                <a:tc>
                  <a:txBody>
                    <a:bodyPr/>
                    <a:lstStyle/>
                    <a:p>
                      <a:pPr>
                        <a:defRPr sz="1100" b="0">
                          <a:solidFill>
                            <a:srgbClr val="1E293B"/>
                          </a:solidFill>
                          <a:latin typeface="맑은 고딕"/>
                        </a:defRPr>
                      </a:pPr>
                      <a:r>
                        <a:t>15%</a:t>
                      </a:r>
                    </a:p>
                  </a:txBody>
                  <a:tcPr>
                    <a:solidFill>
                      <a:srgbClr val="FFFFFF"/>
                    </a:solidFill>
                  </a:tcPr>
                </a:tc>
                <a:tc>
                  <a:txBody>
                    <a:bodyPr/>
                    <a:lstStyle/>
                    <a:p>
                      <a:pPr>
                        <a:defRPr sz="1100" b="0">
                          <a:solidFill>
                            <a:srgbClr val="1E293B"/>
                          </a:solidFill>
                          <a:latin typeface="맑은 고딕"/>
                        </a:defRPr>
                      </a:pPr>
                      <a:r>
                        <a:t>15.87% 초과</a:t>
                      </a:r>
                    </a:p>
                  </a:txBody>
                  <a:tcPr>
                    <a:solidFill>
                      <a:srgbClr val="FFFFFF"/>
                    </a:solidFill>
                  </a:tcPr>
                </a:tc>
                <a:tc>
                  <a:txBody>
                    <a:bodyPr/>
                    <a:lstStyle/>
                    <a:p>
                      <a:pPr>
                        <a:defRPr sz="1100" b="0">
                          <a:solidFill>
                            <a:srgbClr val="1E293B"/>
                          </a:solidFill>
                          <a:latin typeface="맑은 고딕"/>
                        </a:defRPr>
                      </a:pPr>
                      <a:r>
                        <a:t>0.87%p</a:t>
                      </a:r>
                    </a:p>
                  </a:txBody>
                  <a:tcPr>
                    <a:solidFill>
                      <a:srgbClr val="FFFFFF"/>
                    </a:solidFill>
                  </a:tcPr>
                </a:tc>
              </a:tr>
              <a:tr h="777240">
                <a:tc>
                  <a:txBody>
                    <a:bodyPr/>
                    <a:lstStyle/>
                    <a:p>
                      <a:pPr>
                        <a:defRPr sz="1100" b="1">
                          <a:solidFill>
                            <a:srgbClr val="1E293B"/>
                          </a:solidFill>
                          <a:latin typeface="맑은 고딕"/>
                        </a:defRPr>
                      </a:pPr>
                      <a:r>
                        <a:t>SEN-100P</a:t>
                      </a:r>
                    </a:p>
                  </a:txBody>
                  <a:tcPr>
                    <a:solidFill>
                      <a:srgbClr val="F1F5F9"/>
                    </a:solidFill>
                  </a:tcPr>
                </a:tc>
                <a:tc>
                  <a:txBody>
                    <a:bodyPr/>
                    <a:lstStyle/>
                    <a:p>
                      <a:pPr>
                        <a:defRPr sz="1100" b="0">
                          <a:solidFill>
                            <a:srgbClr val="1E293B"/>
                          </a:solidFill>
                          <a:latin typeface="맑은 고딕"/>
                        </a:defRPr>
                      </a:pPr>
                      <a:r>
                        <a:t>초정밀 진동·온도 센서모듈</a:t>
                      </a:r>
                    </a:p>
                  </a:txBody>
                  <a:tcPr>
                    <a:solidFill>
                      <a:srgbClr val="F1F5F9"/>
                    </a:solidFill>
                  </a:tcPr>
                </a:tc>
                <a:tc>
                  <a:txBody>
                    <a:bodyPr/>
                    <a:lstStyle/>
                    <a:p>
                      <a:pPr>
                        <a:defRPr sz="1100" b="0">
                          <a:solidFill>
                            <a:srgbClr val="1E293B"/>
                          </a:solidFill>
                          <a:latin typeface="맑은 고딕"/>
                        </a:defRPr>
                      </a:pPr>
                      <a:r>
                        <a:t>18%</a:t>
                      </a:r>
                    </a:p>
                  </a:txBody>
                  <a:tcPr>
                    <a:solidFill>
                      <a:srgbClr val="F1F5F9"/>
                    </a:solidFill>
                  </a:tcPr>
                </a:tc>
                <a:tc>
                  <a:txBody>
                    <a:bodyPr/>
                    <a:lstStyle/>
                    <a:p>
                      <a:pPr>
                        <a:defRPr sz="1100" b="0">
                          <a:solidFill>
                            <a:srgbClr val="1E293B"/>
                          </a:solidFill>
                          <a:latin typeface="맑은 고딕"/>
                        </a:defRPr>
                      </a:pPr>
                      <a:r>
                        <a:t>20.34% 초과</a:t>
                      </a:r>
                    </a:p>
                  </a:txBody>
                  <a:tcPr>
                    <a:solidFill>
                      <a:srgbClr val="F1F5F9"/>
                    </a:solidFill>
                  </a:tcPr>
                </a:tc>
                <a:tc>
                  <a:txBody>
                    <a:bodyPr/>
                    <a:lstStyle/>
                    <a:p>
                      <a:pPr>
                        <a:defRPr sz="1100" b="0">
                          <a:solidFill>
                            <a:srgbClr val="1E293B"/>
                          </a:solidFill>
                          <a:latin typeface="맑은 고딕"/>
                        </a:defRPr>
                      </a:pPr>
                      <a:r>
                        <a:t>2.34%p</a:t>
                      </a:r>
                    </a:p>
                  </a:txBody>
                  <a:tcPr>
                    <a:solidFill>
                      <a:srgbClr val="F1F5F9"/>
                    </a:solidFill>
                  </a:tcPr>
                </a:tc>
              </a:tr>
              <a:tr h="777240">
                <a:tc>
                  <a:txBody>
                    <a:bodyPr/>
                    <a:lstStyle/>
                    <a:p>
                      <a:pPr>
                        <a:defRPr sz="1100" b="1">
                          <a:solidFill>
                            <a:srgbClr val="1E293B"/>
                          </a:solidFill>
                          <a:latin typeface="맑은 고딕"/>
                        </a:defRPr>
                      </a:pPr>
                      <a:r>
                        <a:t>PLC-900M</a:t>
                      </a:r>
                    </a:p>
                  </a:txBody>
                  <a:tcPr>
                    <a:solidFill>
                      <a:srgbClr val="FFFFFF"/>
                    </a:solidFill>
                  </a:tcPr>
                </a:tc>
                <a:tc>
                  <a:txBody>
                    <a:bodyPr/>
                    <a:lstStyle/>
                    <a:p>
                      <a:pPr>
                        <a:defRPr sz="1100" b="0">
                          <a:solidFill>
                            <a:srgbClr val="1E293B"/>
                          </a:solidFill>
                          <a:latin typeface="맑은 고딕"/>
                        </a:defRPr>
                      </a:pPr>
                      <a:r>
                        <a:t>통합 공정 컨트롤러 패키지</a:t>
                      </a:r>
                    </a:p>
                  </a:txBody>
                  <a:tcPr>
                    <a:solidFill>
                      <a:srgbClr val="FFFFFF"/>
                    </a:solidFill>
                  </a:tcPr>
                </a:tc>
                <a:tc>
                  <a:txBody>
                    <a:bodyPr/>
                    <a:lstStyle/>
                    <a:p>
                      <a:pPr>
                        <a:defRPr sz="1100" b="0">
                          <a:solidFill>
                            <a:srgbClr val="1E293B"/>
                          </a:solidFill>
                          <a:latin typeface="맑은 고딕"/>
                        </a:defRPr>
                      </a:pPr>
                      <a:r>
                        <a:t>12%</a:t>
                      </a:r>
                    </a:p>
                  </a:txBody>
                  <a:tcPr>
                    <a:solidFill>
                      <a:srgbClr val="FFFFFF"/>
                    </a:solidFill>
                  </a:tcPr>
                </a:tc>
                <a:tc>
                  <a:txBody>
                    <a:bodyPr/>
                    <a:lstStyle/>
                    <a:p>
                      <a:pPr>
                        <a:defRPr sz="1100" b="0">
                          <a:solidFill>
                            <a:srgbClr val="1E293B"/>
                          </a:solidFill>
                          <a:latin typeface="맑은 고딕"/>
                        </a:defRPr>
                      </a:pPr>
                      <a:r>
                        <a:t>14.47% 초과</a:t>
                      </a:r>
                    </a:p>
                  </a:txBody>
                  <a:tcPr>
                    <a:solidFill>
                      <a:srgbClr val="FFFFFF"/>
                    </a:solidFill>
                  </a:tcPr>
                </a:tc>
                <a:tc>
                  <a:txBody>
                    <a:bodyPr/>
                    <a:lstStyle/>
                    <a:p>
                      <a:pPr>
                        <a:defRPr sz="1100" b="0">
                          <a:solidFill>
                            <a:srgbClr val="1E293B"/>
                          </a:solidFill>
                          <a:latin typeface="맑은 고딕"/>
                        </a:defRPr>
                      </a:pPr>
                      <a:r>
                        <a:t>2.47%p</a:t>
                      </a:r>
                    </a:p>
                  </a:txBody>
                  <a:tcPr>
                    <a:solidFill>
                      <a:srgbClr val="FFFFFF"/>
                    </a:solidFill>
                  </a:tcPr>
                </a:tc>
              </a:tr>
              <a:tr h="777240">
                <a:tc>
                  <a:txBody>
                    <a:bodyPr/>
                    <a:lstStyle/>
                    <a:p>
                      <a:pPr>
                        <a:defRPr sz="1100" b="1">
                          <a:solidFill>
                            <a:srgbClr val="1E293B"/>
                          </a:solidFill>
                          <a:latin typeface="맑은 고딕"/>
                        </a:defRPr>
                      </a:pPr>
                      <a:r>
                        <a:t>MOT-500A</a:t>
                      </a:r>
                    </a:p>
                  </a:txBody>
                  <a:tcPr>
                    <a:solidFill>
                      <a:srgbClr val="F1F5F9"/>
                    </a:solidFill>
                  </a:tcPr>
                </a:tc>
                <a:tc>
                  <a:txBody>
                    <a:bodyPr/>
                    <a:lstStyle/>
                    <a:p>
                      <a:pPr>
                        <a:defRPr sz="1100" b="0">
                          <a:solidFill>
                            <a:srgbClr val="1E293B"/>
                          </a:solidFill>
                          <a:latin typeface="맑은 고딕"/>
                        </a:defRPr>
                      </a:pPr>
                      <a:r>
                        <a:t>고효율 서보모터 5kW</a:t>
                      </a:r>
                    </a:p>
                  </a:txBody>
                  <a:tcPr>
                    <a:solidFill>
                      <a:srgbClr val="F1F5F9"/>
                    </a:solidFill>
                  </a:tcPr>
                </a:tc>
                <a:tc>
                  <a:txBody>
                    <a:bodyPr/>
                    <a:lstStyle/>
                    <a:p>
                      <a:pPr>
                        <a:defRPr sz="1100" b="0">
                          <a:solidFill>
                            <a:srgbClr val="1E293B"/>
                          </a:solidFill>
                          <a:latin typeface="맑은 고딕"/>
                        </a:defRPr>
                      </a:pPr>
                      <a:r>
                        <a:t>12%</a:t>
                      </a:r>
                    </a:p>
                  </a:txBody>
                  <a:tcPr>
                    <a:solidFill>
                      <a:srgbClr val="F1F5F9"/>
                    </a:solidFill>
                  </a:tcPr>
                </a:tc>
                <a:tc>
                  <a:txBody>
                    <a:bodyPr/>
                    <a:lstStyle/>
                    <a:p>
                      <a:pPr>
                        <a:defRPr sz="1100" b="0">
                          <a:solidFill>
                            <a:srgbClr val="1E293B"/>
                          </a:solidFill>
                          <a:latin typeface="맑은 고딕"/>
                        </a:defRPr>
                      </a:pPr>
                      <a:r>
                        <a:t>15.45% 초과</a:t>
                      </a:r>
                    </a:p>
                  </a:txBody>
                  <a:tcPr>
                    <a:solidFill>
                      <a:srgbClr val="F1F5F9"/>
                    </a:solidFill>
                  </a:tcPr>
                </a:tc>
                <a:tc>
                  <a:txBody>
                    <a:bodyPr/>
                    <a:lstStyle/>
                    <a:p>
                      <a:pPr>
                        <a:defRPr sz="1100" b="0">
                          <a:solidFill>
                            <a:srgbClr val="1E293B"/>
                          </a:solidFill>
                          <a:latin typeface="맑은 고딕"/>
                        </a:defRPr>
                      </a:pPr>
                      <a:r>
                        <a:t>3.45%p</a:t>
                      </a:r>
                    </a:p>
                  </a:txBody>
                  <a:tcPr>
                    <a:solidFill>
                      <a:srgbClr val="F1F5F9"/>
                    </a:solidFill>
                  </a:tcPr>
                </a:tc>
              </a:tr>
              <a:tr h="777240">
                <a:tc>
                  <a:txBody>
                    <a:bodyPr/>
                    <a:lstStyle/>
                    <a:p>
                      <a:pPr>
                        <a:defRPr sz="1100" b="1">
                          <a:solidFill>
                            <a:srgbClr val="1E293B"/>
                          </a:solidFill>
                          <a:latin typeface="맑은 고딕"/>
                        </a:defRPr>
                      </a:pPr>
                      <a:r>
                        <a:t>MOT-750B</a:t>
                      </a:r>
                    </a:p>
                  </a:txBody>
                  <a:tcPr>
                    <a:solidFill>
                      <a:srgbClr val="FFFFFF"/>
                    </a:solidFill>
                  </a:tcPr>
                </a:tc>
                <a:tc>
                  <a:txBody>
                    <a:bodyPr/>
                    <a:lstStyle/>
                    <a:p>
                      <a:pPr>
                        <a:defRPr sz="1100" b="0">
                          <a:solidFill>
                            <a:srgbClr val="1E293B"/>
                          </a:solidFill>
                          <a:latin typeface="맑은 고딕"/>
                        </a:defRPr>
                      </a:pPr>
                      <a:r>
                        <a:t>방폭형 산업모터 7.5kW</a:t>
                      </a:r>
                    </a:p>
                  </a:txBody>
                  <a:tcPr>
                    <a:solidFill>
                      <a:srgbClr val="FFFFFF"/>
                    </a:solidFill>
                  </a:tcPr>
                </a:tc>
                <a:tc>
                  <a:txBody>
                    <a:bodyPr/>
                    <a:lstStyle/>
                    <a:p>
                      <a:pPr>
                        <a:defRPr sz="1100" b="0">
                          <a:solidFill>
                            <a:srgbClr val="1E293B"/>
                          </a:solidFill>
                          <a:latin typeface="맑은 고딕"/>
                        </a:defRPr>
                      </a:pPr>
                      <a:r>
                        <a:t>10%</a:t>
                      </a:r>
                    </a:p>
                  </a:txBody>
                  <a:tcPr>
                    <a:solidFill>
                      <a:srgbClr val="FFFFFF"/>
                    </a:solidFill>
                  </a:tcPr>
                </a:tc>
                <a:tc>
                  <a:txBody>
                    <a:bodyPr/>
                    <a:lstStyle/>
                    <a:p>
                      <a:pPr>
                        <a:defRPr sz="1100" b="0">
                          <a:solidFill>
                            <a:srgbClr val="1E293B"/>
                          </a:solidFill>
                          <a:latin typeface="맑은 고딕"/>
                        </a:defRPr>
                      </a:pPr>
                      <a:r>
                        <a:t>14.42% 초과</a:t>
                      </a:r>
                    </a:p>
                  </a:txBody>
                  <a:tcPr>
                    <a:solidFill>
                      <a:srgbClr val="FFFFFF"/>
                    </a:solidFill>
                  </a:tcPr>
                </a:tc>
                <a:tc>
                  <a:txBody>
                    <a:bodyPr/>
                    <a:lstStyle/>
                    <a:p>
                      <a:pPr>
                        <a:defRPr sz="1100" b="0">
                          <a:solidFill>
                            <a:srgbClr val="1E293B"/>
                          </a:solidFill>
                          <a:latin typeface="맑은 고딕"/>
                        </a:defRPr>
                      </a:pPr>
                      <a:r>
                        <a:t>4.42%p</a:t>
                      </a:r>
                    </a:p>
                  </a:txBody>
                  <a:tcPr>
                    <a:solidFill>
                      <a:srgbClr val="FFFFFF"/>
                    </a:solidFill>
                  </a:tcPr>
                </a:tc>
              </a:tr>
            </a:tbl>
          </a:graphicData>
        </a:graphic>
      </p:graphicFrame>
      <p:sp>
        <p:nvSpPr>
          <p:cNvPr id="8" name="TextBox 7"/>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Session 1 · 프레임</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소프트웨어 품질도 공장과 같은 문서로 관리합니다</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새 용어를 외우지 않습니다. 이미 아는 제조 문서에 대응시키면 됩니다</a:t>
            </a:r>
          </a:p>
        </p:txBody>
      </p:sp>
      <p:graphicFrame>
        <p:nvGraphicFramePr>
          <p:cNvPr id="7" name="Table 6"/>
          <p:cNvGraphicFramePr>
            <a:graphicFrameLocks noGrp="1"/>
          </p:cNvGraphicFramePr>
          <p:nvPr/>
        </p:nvGraphicFramePr>
        <p:xfrm>
          <a:off x="548640" y="1417320"/>
          <a:ext cx="11064240" cy="4663440"/>
        </p:xfrm>
        <a:graphic>
          <a:graphicData uri="http://schemas.openxmlformats.org/drawingml/2006/table">
            <a:tbl>
              <a:tblPr firstRow="1" bandRow="1">
                <a:tableStyleId>{5C22544A-7EE6-4342-B048-85BDC9FD1C3A}</a:tableStyleId>
              </a:tblPr>
              <a:tblGrid>
                <a:gridCol w="2766060"/>
                <a:gridCol w="2766060"/>
                <a:gridCol w="2766060"/>
                <a:gridCol w="2766060"/>
              </a:tblGrid>
              <a:tr h="777240">
                <a:tc>
                  <a:txBody>
                    <a:bodyPr/>
                    <a:lstStyle/>
                    <a:p>
                      <a:pPr>
                        <a:defRPr sz="1150" b="1">
                          <a:solidFill>
                            <a:srgbClr val="FFFFFF"/>
                          </a:solidFill>
                          <a:latin typeface="맑은 고딕"/>
                        </a:defRPr>
                      </a:pPr>
                      <a:r>
                        <a:t>공장의 문서·활동</a:t>
                      </a:r>
                    </a:p>
                  </a:txBody>
                  <a:tcPr>
                    <a:solidFill>
                      <a:srgbClr val="0F172A"/>
                    </a:solidFill>
                  </a:tcPr>
                </a:tc>
                <a:tc>
                  <a:txBody>
                    <a:bodyPr/>
                    <a:lstStyle/>
                    <a:p>
                      <a:pPr>
                        <a:defRPr sz="1150" b="1">
                          <a:solidFill>
                            <a:srgbClr val="FFFFFF"/>
                          </a:solidFill>
                          <a:latin typeface="맑은 고딕"/>
                        </a:defRPr>
                      </a:pPr>
                      <a:r>
                        <a:t>MVP에서의 대응물</a:t>
                      </a:r>
                    </a:p>
                  </a:txBody>
                  <a:tcPr>
                    <a:solidFill>
                      <a:srgbClr val="0F172A"/>
                    </a:solidFill>
                  </a:tcPr>
                </a:tc>
                <a:tc>
                  <a:txBody>
                    <a:bodyPr/>
                    <a:lstStyle/>
                    <a:p>
                      <a:pPr>
                        <a:defRPr sz="1150" b="1">
                          <a:solidFill>
                            <a:srgbClr val="FFFFFF"/>
                          </a:solidFill>
                          <a:latin typeface="맑은 고딕"/>
                        </a:defRPr>
                      </a:pPr>
                      <a:r>
                        <a:t>담는 내용</a:t>
                      </a:r>
                    </a:p>
                  </a:txBody>
                  <a:tcPr>
                    <a:solidFill>
                      <a:srgbClr val="0F172A"/>
                    </a:solidFill>
                  </a:tcPr>
                </a:tc>
                <a:tc>
                  <a:txBody>
                    <a:bodyPr/>
                    <a:lstStyle/>
                    <a:p>
                      <a:pPr>
                        <a:defRPr sz="1150" b="1">
                          <a:solidFill>
                            <a:srgbClr val="FFFFFF"/>
                          </a:solidFill>
                          <a:latin typeface="맑은 고딕"/>
                        </a:defRPr>
                      </a:pPr>
                      <a:r>
                        <a:t>없으면 생기는 일</a:t>
                      </a:r>
                    </a:p>
                  </a:txBody>
                  <a:tcPr>
                    <a:solidFill>
                      <a:srgbClr val="0F172A"/>
                    </a:solidFill>
                  </a:tcPr>
                </a:tc>
              </a:tr>
              <a:tr h="777240">
                <a:tc>
                  <a:txBody>
                    <a:bodyPr/>
                    <a:lstStyle/>
                    <a:p>
                      <a:pPr>
                        <a:defRPr sz="1100" b="1">
                          <a:solidFill>
                            <a:srgbClr val="1E293B"/>
                          </a:solidFill>
                          <a:latin typeface="맑은 고딕"/>
                        </a:defRPr>
                      </a:pPr>
                      <a:r>
                        <a:t>설계도면</a:t>
                      </a:r>
                    </a:p>
                  </a:txBody>
                  <a:tcPr>
                    <a:solidFill>
                      <a:srgbClr val="FFFFFF"/>
                    </a:solidFill>
                  </a:tcPr>
                </a:tc>
                <a:tc>
                  <a:txBody>
                    <a:bodyPr/>
                    <a:lstStyle/>
                    <a:p>
                      <a:pPr>
                        <a:defRPr sz="1100" b="0">
                          <a:solidFill>
                            <a:srgbClr val="1E293B"/>
                          </a:solidFill>
                          <a:latin typeface="맑은 고딕"/>
                        </a:defRPr>
                      </a:pPr>
                      <a:r>
                        <a:t>docs/요구도면.md</a:t>
                      </a:r>
                    </a:p>
                  </a:txBody>
                  <a:tcPr>
                    <a:solidFill>
                      <a:srgbClr val="FFFFFF"/>
                    </a:solidFill>
                  </a:tcPr>
                </a:tc>
                <a:tc>
                  <a:txBody>
                    <a:bodyPr/>
                    <a:lstStyle/>
                    <a:p>
                      <a:pPr>
                        <a:defRPr sz="1100" b="0">
                          <a:solidFill>
                            <a:srgbClr val="1E293B"/>
                          </a:solidFill>
                          <a:latin typeface="맑은 고딕"/>
                        </a:defRPr>
                      </a:pPr>
                      <a:r>
                        <a:t>대상 업무, 입력, 판정 규칙, 범위 밖 항목</a:t>
                      </a:r>
                    </a:p>
                  </a:txBody>
                  <a:tcPr>
                    <a:solidFill>
                      <a:srgbClr val="FFFFFF"/>
                    </a:solidFill>
                  </a:tcPr>
                </a:tc>
                <a:tc>
                  <a:txBody>
                    <a:bodyPr/>
                    <a:lstStyle/>
                    <a:p>
                      <a:pPr>
                        <a:defRPr sz="1100" b="0">
                          <a:solidFill>
                            <a:srgbClr val="1E293B"/>
                          </a:solidFill>
                          <a:latin typeface="맑은 고딕"/>
                        </a:defRPr>
                      </a:pPr>
                      <a:r>
                        <a:t>만들 때마다 규칙이 달라짐</a:t>
                      </a:r>
                    </a:p>
                  </a:txBody>
                  <a:tcPr>
                    <a:solidFill>
                      <a:srgbClr val="FFFFFF"/>
                    </a:solidFill>
                  </a:tcPr>
                </a:tc>
              </a:tr>
              <a:tr h="777240">
                <a:tc>
                  <a:txBody>
                    <a:bodyPr/>
                    <a:lstStyle/>
                    <a:p>
                      <a:pPr>
                        <a:defRPr sz="1100" b="1">
                          <a:solidFill>
                            <a:srgbClr val="1E293B"/>
                          </a:solidFill>
                          <a:latin typeface="맑은 고딕"/>
                        </a:defRPr>
                      </a:pPr>
                      <a:r>
                        <a:t>작업표준서</a:t>
                      </a:r>
                    </a:p>
                  </a:txBody>
                  <a:tcPr>
                    <a:solidFill>
                      <a:srgbClr val="F1F5F9"/>
                    </a:solidFill>
                  </a:tcPr>
                </a:tc>
                <a:tc>
                  <a:txBody>
                    <a:bodyPr/>
                    <a:lstStyle/>
                    <a:p>
                      <a:pPr>
                        <a:defRPr sz="1100" b="0">
                          <a:solidFill>
                            <a:srgbClr val="1E293B"/>
                          </a:solidFill>
                          <a:latin typeface="맑은 고딕"/>
                        </a:defRPr>
                      </a:pPr>
                      <a:r>
                        <a:t>CLAUDE.md</a:t>
                      </a:r>
                    </a:p>
                  </a:txBody>
                  <a:tcPr>
                    <a:solidFill>
                      <a:srgbClr val="F1F5F9"/>
                    </a:solidFill>
                  </a:tcPr>
                </a:tc>
                <a:tc>
                  <a:txBody>
                    <a:bodyPr/>
                    <a:lstStyle/>
                    <a:p>
                      <a:pPr>
                        <a:defRPr sz="1100" b="0">
                          <a:solidFill>
                            <a:srgbClr val="1E293B"/>
                          </a:solidFill>
                          <a:latin typeface="맑은 고딕"/>
                        </a:defRPr>
                      </a:pPr>
                      <a:r>
                        <a:t>AI가 매번 지켜야 할 기술·보안 규칙</a:t>
                      </a:r>
                    </a:p>
                  </a:txBody>
                  <a:tcPr>
                    <a:solidFill>
                      <a:srgbClr val="F1F5F9"/>
                    </a:solidFill>
                  </a:tcPr>
                </a:tc>
                <a:tc>
                  <a:txBody>
                    <a:bodyPr/>
                    <a:lstStyle/>
                    <a:p>
                      <a:pPr>
                        <a:defRPr sz="1100" b="0">
                          <a:solidFill>
                            <a:srgbClr val="1E293B"/>
                          </a:solidFill>
                          <a:latin typeface="맑은 고딕"/>
                        </a:defRPr>
                      </a:pPr>
                      <a:r>
                        <a:t>세션마다 같은 설명을 반복</a:t>
                      </a:r>
                    </a:p>
                  </a:txBody>
                  <a:tcPr>
                    <a:solidFill>
                      <a:srgbClr val="F1F5F9"/>
                    </a:solidFill>
                  </a:tcPr>
                </a:tc>
              </a:tr>
              <a:tr h="777240">
                <a:tc>
                  <a:txBody>
                    <a:bodyPr/>
                    <a:lstStyle/>
                    <a:p>
                      <a:pPr>
                        <a:defRPr sz="1100" b="1">
                          <a:solidFill>
                            <a:srgbClr val="1E293B"/>
                          </a:solidFill>
                          <a:latin typeface="맑은 고딕"/>
                        </a:defRPr>
                      </a:pPr>
                      <a:r>
                        <a:t>검사기준서</a:t>
                      </a:r>
                    </a:p>
                  </a:txBody>
                  <a:tcPr>
                    <a:solidFill>
                      <a:srgbClr val="FFFFFF"/>
                    </a:solidFill>
                  </a:tcPr>
                </a:tc>
                <a:tc>
                  <a:txBody>
                    <a:bodyPr/>
                    <a:lstStyle/>
                    <a:p>
                      <a:pPr>
                        <a:defRPr sz="1100" b="0">
                          <a:solidFill>
                            <a:srgbClr val="1E293B"/>
                          </a:solidFill>
                          <a:latin typeface="맑은 고딕"/>
                        </a:defRPr>
                      </a:pPr>
                      <a:r>
                        <a:t>docs/검사기준.md</a:t>
                      </a:r>
                    </a:p>
                  </a:txBody>
                  <a:tcPr>
                    <a:solidFill>
                      <a:srgbClr val="FFFFFF"/>
                    </a:solidFill>
                  </a:tcPr>
                </a:tc>
                <a:tc>
                  <a:txBody>
                    <a:bodyPr/>
                    <a:lstStyle/>
                    <a:p>
                      <a:pPr>
                        <a:defRPr sz="1100" b="0">
                          <a:solidFill>
                            <a:srgbClr val="1E293B"/>
                          </a:solidFill>
                          <a:latin typeface="맑은 고딕"/>
                        </a:defRPr>
                      </a:pPr>
                      <a:r>
                        <a:t>입력별 정답값과 합격 판정</a:t>
                      </a:r>
                    </a:p>
                  </a:txBody>
                  <a:tcPr>
                    <a:solidFill>
                      <a:srgbClr val="FFFFFF"/>
                    </a:solidFill>
                  </a:tcPr>
                </a:tc>
                <a:tc>
                  <a:txBody>
                    <a:bodyPr/>
                    <a:lstStyle/>
                    <a:p>
                      <a:pPr>
                        <a:defRPr sz="1100" b="0">
                          <a:solidFill>
                            <a:srgbClr val="1E293B"/>
                          </a:solidFill>
                          <a:latin typeface="맑은 고딕"/>
                        </a:defRPr>
                      </a:pPr>
                      <a:r>
                        <a:t>'돌아간다'가 합격 기준이 됨</a:t>
                      </a:r>
                    </a:p>
                  </a:txBody>
                  <a:tcPr>
                    <a:solidFill>
                      <a:srgbClr val="FFFFFF"/>
                    </a:solidFill>
                  </a:tcPr>
                </a:tc>
              </a:tr>
              <a:tr h="777240">
                <a:tc>
                  <a:txBody>
                    <a:bodyPr/>
                    <a:lstStyle/>
                    <a:p>
                      <a:pPr>
                        <a:defRPr sz="1100" b="1">
                          <a:solidFill>
                            <a:srgbClr val="1E293B"/>
                          </a:solidFill>
                          <a:latin typeface="맑은 고딕"/>
                        </a:defRPr>
                      </a:pPr>
                      <a:r>
                        <a:t>설계변경통보(ECN)</a:t>
                      </a:r>
                    </a:p>
                  </a:txBody>
                  <a:tcPr>
                    <a:solidFill>
                      <a:srgbClr val="F1F5F9"/>
                    </a:solidFill>
                  </a:tcPr>
                </a:tc>
                <a:tc>
                  <a:txBody>
                    <a:bodyPr/>
                    <a:lstStyle/>
                    <a:p>
                      <a:pPr>
                        <a:defRPr sz="1100" b="0">
                          <a:solidFill>
                            <a:srgbClr val="1E293B"/>
                          </a:solidFill>
                          <a:latin typeface="맑은 고딕"/>
                        </a:defRPr>
                      </a:pPr>
                      <a:r>
                        <a:t>docs/변경이력.md</a:t>
                      </a:r>
                    </a:p>
                  </a:txBody>
                  <a:tcPr>
                    <a:solidFill>
                      <a:srgbClr val="F1F5F9"/>
                    </a:solidFill>
                  </a:tcPr>
                </a:tc>
                <a:tc>
                  <a:txBody>
                    <a:bodyPr/>
                    <a:lstStyle/>
                    <a:p>
                      <a:pPr>
                        <a:defRPr sz="1100" b="0">
                          <a:solidFill>
                            <a:srgbClr val="1E293B"/>
                          </a:solidFill>
                          <a:latin typeface="맑은 고딕"/>
                        </a:defRPr>
                      </a:pPr>
                      <a:r>
                        <a:t>변경 사유, 전후 값, 재검사 결과</a:t>
                      </a:r>
                    </a:p>
                  </a:txBody>
                  <a:tcPr>
                    <a:solidFill>
                      <a:srgbClr val="F1F5F9"/>
                    </a:solidFill>
                  </a:tcPr>
                </a:tc>
                <a:tc>
                  <a:txBody>
                    <a:bodyPr/>
                    <a:lstStyle/>
                    <a:p>
                      <a:pPr>
                        <a:defRPr sz="1100" b="0">
                          <a:solidFill>
                            <a:srgbClr val="1E293B"/>
                          </a:solidFill>
                          <a:latin typeface="맑은 고딕"/>
                        </a:defRPr>
                      </a:pPr>
                      <a:r>
                        <a:t>왜 바뀌었는지 아무도 모름</a:t>
                      </a:r>
                    </a:p>
                  </a:txBody>
                  <a:tcPr>
                    <a:solidFill>
                      <a:srgbClr val="F1F5F9"/>
                    </a:solidFill>
                  </a:tcPr>
                </a:tc>
              </a:tr>
              <a:tr h="777240">
                <a:tc>
                  <a:txBody>
                    <a:bodyPr/>
                    <a:lstStyle/>
                    <a:p>
                      <a:pPr>
                        <a:defRPr sz="1100" b="1">
                          <a:solidFill>
                            <a:srgbClr val="1E293B"/>
                          </a:solidFill>
                          <a:latin typeface="맑은 고딕"/>
                        </a:defRPr>
                      </a:pPr>
                      <a:r>
                        <a:t>초도품 검사</a:t>
                      </a:r>
                    </a:p>
                  </a:txBody>
                  <a:tcPr>
                    <a:solidFill>
                      <a:srgbClr val="FFFFFF"/>
                    </a:solidFill>
                  </a:tcPr>
                </a:tc>
                <a:tc>
                  <a:txBody>
                    <a:bodyPr/>
                    <a:lstStyle/>
                    <a:p>
                      <a:pPr>
                        <a:defRPr sz="1100" b="0">
                          <a:solidFill>
                            <a:srgbClr val="1E293B"/>
                          </a:solidFill>
                          <a:latin typeface="맑은 고딕"/>
                        </a:defRPr>
                      </a:pPr>
                      <a:r>
                        <a:t>자가검사 첫 통과</a:t>
                      </a:r>
                    </a:p>
                  </a:txBody>
                  <a:tcPr>
                    <a:solidFill>
                      <a:srgbClr val="FFFFFF"/>
                    </a:solidFill>
                  </a:tcPr>
                </a:tc>
                <a:tc>
                  <a:txBody>
                    <a:bodyPr/>
                    <a:lstStyle/>
                    <a:p>
                      <a:pPr>
                        <a:defRPr sz="1100" b="0">
                          <a:solidFill>
                            <a:srgbClr val="1E293B"/>
                          </a:solidFill>
                          <a:latin typeface="맑은 고딕"/>
                        </a:defRPr>
                      </a:pPr>
                      <a:r>
                        <a:t>구현 직후 전체 사례 합격 확인</a:t>
                      </a:r>
                    </a:p>
                  </a:txBody>
                  <a:tcPr>
                    <a:solidFill>
                      <a:srgbClr val="FFFFFF"/>
                    </a:solidFill>
                  </a:tcPr>
                </a:tc>
                <a:tc>
                  <a:txBody>
                    <a:bodyPr/>
                    <a:lstStyle/>
                    <a:p>
                      <a:pPr>
                        <a:defRPr sz="1100" b="0">
                          <a:solidFill>
                            <a:srgbClr val="1E293B"/>
                          </a:solidFill>
                          <a:latin typeface="맑은 고딕"/>
                        </a:defRPr>
                      </a:pPr>
                      <a:r>
                        <a:t>불량이 사용자에게 먼저 발견됨</a:t>
                      </a:r>
                    </a:p>
                  </a:txBody>
                  <a:tcPr>
                    <a:solidFill>
                      <a:srgbClr val="FFFFFF"/>
                    </a:solidFill>
                  </a:tcPr>
                </a:tc>
              </a:tr>
            </a:tbl>
          </a:graphicData>
        </a:graphic>
      </p:graphicFrame>
      <p:sp>
        <p:nvSpPr>
          <p:cNvPr id="8" name="TextBox 7"/>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Session 2 · 요구도면</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요구도면은 한 장, 규칙은 숫자로 씁니다</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견적 검증기의 요구도면 예시입니다. 내 과제로 바꿔 작성합니다</a:t>
            </a:r>
          </a:p>
        </p:txBody>
      </p:sp>
      <p:sp>
        <p:nvSpPr>
          <p:cNvPr id="7" name="Rounded Rectangle 6"/>
          <p:cNvSpPr/>
          <p:nvPr/>
        </p:nvSpPr>
        <p:spPr>
          <a:xfrm>
            <a:off x="548640" y="1371600"/>
            <a:ext cx="411480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54480"/>
            <a:ext cx="3749039" cy="4480560"/>
          </a:xfrm>
          <a:prstGeom prst="rect">
            <a:avLst/>
          </a:prstGeom>
          <a:noFill/>
        </p:spPr>
        <p:txBody>
          <a:bodyPr wrap="square">
            <a:spAutoFit/>
          </a:bodyPr>
          <a:lstStyle/>
          <a:p>
            <a:pPr>
              <a:defRPr sz="1500" b="1">
                <a:solidFill>
                  <a:srgbClr val="2563EB"/>
                </a:solidFill>
                <a:latin typeface="맑은 고딕"/>
              </a:defRPr>
            </a:pPr>
            <a:r>
              <a:t>요구도면 작성 원칙</a:t>
            </a:r>
          </a:p>
          <a:p>
            <a:pPr>
              <a:spcBef>
                <a:spcPts val="800"/>
              </a:spcBef>
              <a:defRPr sz="1200">
                <a:solidFill>
                  <a:srgbClr val="1E293B"/>
                </a:solidFill>
                <a:latin typeface="맑은 고딕"/>
              </a:defRPr>
            </a:pPr>
            <a:r>
              <a:t>✔ 누가 어떤 결정을 내릴 때 쓰는지 먼저 적기</a:t>
            </a:r>
          </a:p>
          <a:p>
            <a:pPr>
              <a:spcBef>
                <a:spcPts val="800"/>
              </a:spcBef>
              <a:defRPr sz="1200">
                <a:solidFill>
                  <a:srgbClr val="1E293B"/>
                </a:solidFill>
                <a:latin typeface="맑은 고딕"/>
              </a:defRPr>
            </a:pPr>
            <a:r>
              <a:t>✔ 입력은 실제 컬럼명 그대로 적기</a:t>
            </a:r>
          </a:p>
          <a:p>
            <a:pPr>
              <a:spcBef>
                <a:spcPts val="800"/>
              </a:spcBef>
              <a:defRPr sz="1200">
                <a:solidFill>
                  <a:srgbClr val="1E293B"/>
                </a:solidFill>
                <a:latin typeface="맑은 고딕"/>
              </a:defRPr>
            </a:pPr>
            <a:r>
              <a:t>✔ '적절히', '충분히' 대신 비교 기준과 숫자 쓰기</a:t>
            </a:r>
          </a:p>
          <a:p>
            <a:pPr>
              <a:spcBef>
                <a:spcPts val="800"/>
              </a:spcBef>
              <a:defRPr sz="1200">
                <a:solidFill>
                  <a:srgbClr val="1E293B"/>
                </a:solidFill>
                <a:latin typeface="맑은 고딕"/>
              </a:defRPr>
            </a:pPr>
            <a:r>
              <a:t>✔ 기준값과 같을 때의 처리까지 정하기</a:t>
            </a:r>
          </a:p>
          <a:p>
            <a:pPr>
              <a:spcBef>
                <a:spcPts val="800"/>
              </a:spcBef>
              <a:defRPr sz="1200">
                <a:solidFill>
                  <a:srgbClr val="1E293B"/>
                </a:solidFill>
                <a:latin typeface="맑은 고딕"/>
              </a:defRPr>
            </a:pPr>
            <a:r>
              <a:t>✔ 범위 밖 항목을 적어 기능 증식 막기</a:t>
            </a:r>
          </a:p>
          <a:p>
            <a:pPr>
              <a:spcBef>
                <a:spcPts val="800"/>
              </a:spcBef>
              <a:defRPr sz="1200">
                <a:solidFill>
                  <a:srgbClr val="1E293B"/>
                </a:solidFill>
                <a:latin typeface="맑은 고딕"/>
              </a:defRPr>
            </a:pPr>
            <a:r>
              <a:t>✔ 규칙의 근거 규정과 소유 부서 표시하기</a:t>
            </a:r>
          </a:p>
        </p:txBody>
      </p:sp>
      <p:sp>
        <p:nvSpPr>
          <p:cNvPr id="9" name="Rounded Rectangle 8"/>
          <p:cNvSpPr/>
          <p:nvPr/>
        </p:nvSpPr>
        <p:spPr>
          <a:xfrm>
            <a:off x="4892040" y="1371600"/>
            <a:ext cx="6720840" cy="48463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08760"/>
            <a:ext cx="6355080" cy="4572000"/>
          </a:xfrm>
          <a:prstGeom prst="rect">
            <a:avLst/>
          </a:prstGeom>
          <a:noFill/>
        </p:spPr>
        <p:txBody>
          <a:bodyPr wrap="square">
            <a:spAutoFit/>
          </a:bodyPr>
          <a:lstStyle/>
          <a:p>
            <a:pPr>
              <a:defRPr sz="1250" b="1">
                <a:solidFill>
                  <a:srgbClr val="60A5FA"/>
                </a:solidFill>
                <a:latin typeface="맑은 고딕"/>
              </a:defRPr>
            </a:pPr>
            <a:r>
              <a:t>docs/요구도면.md (교육용 예시)</a:t>
            </a:r>
          </a:p>
          <a:p>
            <a:pPr>
              <a:spcBef>
                <a:spcPts val="300"/>
              </a:spcBef>
              <a:defRPr sz="1100">
                <a:solidFill>
                  <a:srgbClr val="F1F5F9"/>
                </a:solidFill>
                <a:latin typeface="맑은 고딕"/>
              </a:defRPr>
            </a:pPr>
            <a:r>
              <a:t># 견적 판정 요구도면 v1.0</a:t>
            </a:r>
          </a:p>
          <a:p>
            <a:pPr>
              <a:spcBef>
                <a:spcPts val="300"/>
              </a:spcBef>
              <a:defRPr sz="1100">
                <a:solidFill>
                  <a:srgbClr val="F1F5F9"/>
                </a:solidFill>
                <a:latin typeface="맑은 고딕"/>
              </a:defRPr>
            </a:pPr>
            <a:r>
              <a:t>[사용 장면] 영업 담당자가 고객 제출 전 견적 발행 가능 여부를 판단</a:t>
            </a:r>
          </a:p>
          <a:p>
            <a:pPr>
              <a:spcBef>
                <a:spcPts val="300"/>
              </a:spcBef>
              <a:defRPr sz="1100">
                <a:solidFill>
                  <a:srgbClr val="F1F5F9"/>
                </a:solidFill>
                <a:latin typeface="맑은 고딕"/>
              </a:defRPr>
            </a:pPr>
            <a:r>
              <a:t>[입력] 품목코드, 표준단가(만원), 제조원가(만원),</a:t>
            </a:r>
          </a:p>
          <a:p>
            <a:pPr>
              <a:spcBef>
                <a:spcPts val="300"/>
              </a:spcBef>
              <a:defRPr sz="1100">
                <a:solidFill>
                  <a:srgbClr val="F1F5F9"/>
                </a:solidFill>
                <a:latin typeface="맑은 고딕"/>
              </a:defRPr>
            </a:pPr>
            <a:r>
              <a:t>       권장할인한도(%), 최소승인마진율(%), 적용 할인율, 수량</a:t>
            </a:r>
          </a:p>
          <a:p>
            <a:pPr>
              <a:spcBef>
                <a:spcPts val="300"/>
              </a:spcBef>
              <a:defRPr sz="1100">
                <a:solidFill>
                  <a:srgbClr val="F1F5F9"/>
                </a:solidFill>
                <a:latin typeface="맑은 고딕"/>
              </a:defRPr>
            </a:pPr>
            <a:r>
              <a:t>[계산]</a:t>
            </a:r>
          </a:p>
          <a:p>
            <a:pPr>
              <a:spcBef>
                <a:spcPts val="300"/>
              </a:spcBef>
              <a:defRPr sz="1100">
                <a:solidFill>
                  <a:srgbClr val="F1F5F9"/>
                </a:solidFill>
                <a:latin typeface="맑은 고딕"/>
              </a:defRPr>
            </a:pPr>
            <a:r>
              <a:t>- 할인적용단가 = 표준단가 × (1 - 적용 할인율)</a:t>
            </a:r>
          </a:p>
          <a:p>
            <a:pPr>
              <a:spcBef>
                <a:spcPts val="300"/>
              </a:spcBef>
              <a:defRPr sz="1100">
                <a:solidFill>
                  <a:srgbClr val="F1F5F9"/>
                </a:solidFill>
                <a:latin typeface="맑은 고딕"/>
              </a:defRPr>
            </a:pPr>
            <a:r>
              <a:t>- 마진율 = (할인적용단가 - 제조원가) ÷ 할인적용단가 × 100</a:t>
            </a:r>
          </a:p>
          <a:p>
            <a:pPr>
              <a:spcBef>
                <a:spcPts val="300"/>
              </a:spcBef>
              <a:defRPr sz="1100">
                <a:solidFill>
                  <a:srgbClr val="F1F5F9"/>
                </a:solidFill>
                <a:latin typeface="맑은 고딕"/>
              </a:defRPr>
            </a:pPr>
            <a:r>
              <a:t>[판정] 판정표 참조 (기준값과 같으면 합격)</a:t>
            </a:r>
          </a:p>
          <a:p>
            <a:pPr>
              <a:spcBef>
                <a:spcPts val="300"/>
              </a:spcBef>
              <a:defRPr sz="1100">
                <a:solidFill>
                  <a:srgbClr val="F1F5F9"/>
                </a:solidFill>
                <a:latin typeface="맑은 고딕"/>
              </a:defRPr>
            </a:pPr>
            <a:r>
              <a:t>[범위 밖] 고객별 특별단가, ERP 연동, 전자결재 상신</a:t>
            </a:r>
          </a:p>
          <a:p>
            <a:pPr>
              <a:spcBef>
                <a:spcPts val="300"/>
              </a:spcBef>
              <a:defRPr sz="1100">
                <a:solidFill>
                  <a:srgbClr val="F1F5F9"/>
                </a:solidFill>
                <a:latin typeface="맑은 고딕"/>
              </a:defRPr>
            </a:pPr>
            <a:r>
              <a:t>[규칙 소유] 영업관리팀 (교육용 가정)</a:t>
            </a:r>
          </a:p>
        </p:txBody>
      </p:sp>
      <p:sp>
        <p:nvSpPr>
          <p:cNvPr id="11" name="TextBox 10"/>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Session 2 · 판정표</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조건 두 개면 칸은 네 개, 모든 칸을 사람이 정합니다</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문장으로 쓰면 빠지는 경우가 표로 쓰면 빈칸으로 드러납니다</a:t>
            </a:r>
          </a:p>
        </p:txBody>
      </p:sp>
      <p:graphicFrame>
        <p:nvGraphicFramePr>
          <p:cNvPr id="7" name="Table 6"/>
          <p:cNvGraphicFramePr>
            <a:graphicFrameLocks noGrp="1"/>
          </p:cNvGraphicFramePr>
          <p:nvPr/>
        </p:nvGraphicFramePr>
        <p:xfrm>
          <a:off x="548640" y="1417320"/>
          <a:ext cx="11064240" cy="4663440"/>
        </p:xfrm>
        <a:graphic>
          <a:graphicData uri="http://schemas.openxmlformats.org/drawingml/2006/table">
            <a:tbl>
              <a:tblPr firstRow="1" bandRow="1">
                <a:tableStyleId>{5C22544A-7EE6-4342-B048-85BDC9FD1C3A}</a:tableStyleId>
              </a:tblPr>
              <a:tblGrid>
                <a:gridCol w="2766060"/>
                <a:gridCol w="2766060"/>
                <a:gridCol w="2766060"/>
                <a:gridCol w="2766060"/>
              </a:tblGrid>
              <a:tr h="932688">
                <a:tc>
                  <a:txBody>
                    <a:bodyPr/>
                    <a:lstStyle/>
                    <a:p>
                      <a:pPr>
                        <a:defRPr sz="1150" b="1">
                          <a:solidFill>
                            <a:srgbClr val="FFFFFF"/>
                          </a:solidFill>
                          <a:latin typeface="맑은 고딕"/>
                        </a:defRPr>
                      </a:pPr>
                      <a:r>
                        <a:t>판정</a:t>
                      </a:r>
                    </a:p>
                  </a:txBody>
                  <a:tcPr>
                    <a:solidFill>
                      <a:srgbClr val="0F172A"/>
                    </a:solidFill>
                  </a:tcPr>
                </a:tc>
                <a:tc>
                  <a:txBody>
                    <a:bodyPr/>
                    <a:lstStyle/>
                    <a:p>
                      <a:pPr>
                        <a:defRPr sz="1150" b="1">
                          <a:solidFill>
                            <a:srgbClr val="FFFFFF"/>
                          </a:solidFill>
                          <a:latin typeface="맑은 고딕"/>
                        </a:defRPr>
                      </a:pPr>
                      <a:r>
                        <a:t>할인율 vs 권장할인한도</a:t>
                      </a:r>
                    </a:p>
                  </a:txBody>
                  <a:tcPr>
                    <a:solidFill>
                      <a:srgbClr val="0F172A"/>
                    </a:solidFill>
                  </a:tcPr>
                </a:tc>
                <a:tc>
                  <a:txBody>
                    <a:bodyPr/>
                    <a:lstStyle/>
                    <a:p>
                      <a:pPr>
                        <a:defRPr sz="1150" b="1">
                          <a:solidFill>
                            <a:srgbClr val="FFFFFF"/>
                          </a:solidFill>
                          <a:latin typeface="맑은 고딕"/>
                        </a:defRPr>
                      </a:pPr>
                      <a:r>
                        <a:t>마진율 vs 최소승인마진</a:t>
                      </a:r>
                    </a:p>
                  </a:txBody>
                  <a:tcPr>
                    <a:solidFill>
                      <a:srgbClr val="0F172A"/>
                    </a:solidFill>
                  </a:tcPr>
                </a:tc>
                <a:tc>
                  <a:txBody>
                    <a:bodyPr/>
                    <a:lstStyle/>
                    <a:p>
                      <a:pPr>
                        <a:defRPr sz="1150" b="1">
                          <a:solidFill>
                            <a:srgbClr val="FFFFFF"/>
                          </a:solidFill>
                          <a:latin typeface="맑은 고딕"/>
                        </a:defRPr>
                      </a:pPr>
                      <a:r>
                        <a:t>화면 표시 (교육용 가정)</a:t>
                      </a:r>
                    </a:p>
                  </a:txBody>
                  <a:tcPr>
                    <a:solidFill>
                      <a:srgbClr val="0F172A"/>
                    </a:solidFill>
                  </a:tcPr>
                </a:tc>
              </a:tr>
              <a:tr h="932688">
                <a:tc>
                  <a:txBody>
                    <a:bodyPr/>
                    <a:lstStyle/>
                    <a:p>
                      <a:pPr>
                        <a:defRPr sz="1100" b="1">
                          <a:solidFill>
                            <a:srgbClr val="1E293B"/>
                          </a:solidFill>
                          <a:latin typeface="맑은 고딕"/>
                        </a:defRPr>
                      </a:pPr>
                      <a:r>
                        <a:t>A</a:t>
                      </a:r>
                    </a:p>
                  </a:txBody>
                  <a:tcPr>
                    <a:solidFill>
                      <a:srgbClr val="FFFFFF"/>
                    </a:solidFill>
                  </a:tcPr>
                </a:tc>
                <a:tc>
                  <a:txBody>
                    <a:bodyPr/>
                    <a:lstStyle/>
                    <a:p>
                      <a:pPr>
                        <a:defRPr sz="1100" b="0">
                          <a:solidFill>
                            <a:srgbClr val="1E293B"/>
                          </a:solidFill>
                          <a:latin typeface="맑은 고딕"/>
                        </a:defRPr>
                      </a:pPr>
                      <a:r>
                        <a:t>한도 이내</a:t>
                      </a:r>
                    </a:p>
                  </a:txBody>
                  <a:tcPr>
                    <a:solidFill>
                      <a:srgbClr val="FFFFFF"/>
                    </a:solidFill>
                  </a:tcPr>
                </a:tc>
                <a:tc>
                  <a:txBody>
                    <a:bodyPr/>
                    <a:lstStyle/>
                    <a:p>
                      <a:pPr>
                        <a:defRPr sz="1100" b="0">
                          <a:solidFill>
                            <a:srgbClr val="1E293B"/>
                          </a:solidFill>
                          <a:latin typeface="맑은 고딕"/>
                        </a:defRPr>
                      </a:pPr>
                      <a:r>
                        <a:t>충족</a:t>
                      </a:r>
                    </a:p>
                  </a:txBody>
                  <a:tcPr>
                    <a:solidFill>
                      <a:srgbClr val="FFFFFF"/>
                    </a:solidFill>
                  </a:tcPr>
                </a:tc>
                <a:tc>
                  <a:txBody>
                    <a:bodyPr/>
                    <a:lstStyle/>
                    <a:p>
                      <a:pPr>
                        <a:defRPr sz="1100" b="0">
                          <a:solidFill>
                            <a:srgbClr val="1E293B"/>
                          </a:solidFill>
                          <a:latin typeface="맑은 고딕"/>
                        </a:defRPr>
                      </a:pPr>
                      <a:r>
                        <a:t>즉시발행가능</a:t>
                      </a:r>
                    </a:p>
                  </a:txBody>
                  <a:tcPr>
                    <a:solidFill>
                      <a:srgbClr val="FFFFFF"/>
                    </a:solidFill>
                  </a:tcPr>
                </a:tc>
              </a:tr>
              <a:tr h="932688">
                <a:tc>
                  <a:txBody>
                    <a:bodyPr/>
                    <a:lstStyle/>
                    <a:p>
                      <a:pPr>
                        <a:defRPr sz="1100" b="1">
                          <a:solidFill>
                            <a:srgbClr val="1E293B"/>
                          </a:solidFill>
                          <a:latin typeface="맑은 고딕"/>
                        </a:defRPr>
                      </a:pPr>
                      <a:r>
                        <a:t>B</a:t>
                      </a:r>
                    </a:p>
                  </a:txBody>
                  <a:tcPr>
                    <a:solidFill>
                      <a:srgbClr val="F1F5F9"/>
                    </a:solidFill>
                  </a:tcPr>
                </a:tc>
                <a:tc>
                  <a:txBody>
                    <a:bodyPr/>
                    <a:lstStyle/>
                    <a:p>
                      <a:pPr>
                        <a:defRPr sz="1100" b="0">
                          <a:solidFill>
                            <a:srgbClr val="1E293B"/>
                          </a:solidFill>
                          <a:latin typeface="맑은 고딕"/>
                        </a:defRPr>
                      </a:pPr>
                      <a:r>
                        <a:t>한도 초과</a:t>
                      </a:r>
                    </a:p>
                  </a:txBody>
                  <a:tcPr>
                    <a:solidFill>
                      <a:srgbClr val="F1F5F9"/>
                    </a:solidFill>
                  </a:tcPr>
                </a:tc>
                <a:tc>
                  <a:txBody>
                    <a:bodyPr/>
                    <a:lstStyle/>
                    <a:p>
                      <a:pPr>
                        <a:defRPr sz="1100" b="0">
                          <a:solidFill>
                            <a:srgbClr val="1E293B"/>
                          </a:solidFill>
                          <a:latin typeface="맑은 고딕"/>
                        </a:defRPr>
                      </a:pPr>
                      <a:r>
                        <a:t>충족</a:t>
                      </a:r>
                    </a:p>
                  </a:txBody>
                  <a:tcPr>
                    <a:solidFill>
                      <a:srgbClr val="F1F5F9"/>
                    </a:solidFill>
                  </a:tcPr>
                </a:tc>
                <a:tc>
                  <a:txBody>
                    <a:bodyPr/>
                    <a:lstStyle/>
                    <a:p>
                      <a:pPr>
                        <a:defRPr sz="1100" b="0">
                          <a:solidFill>
                            <a:srgbClr val="1E293B"/>
                          </a:solidFill>
                          <a:latin typeface="맑은 고딕"/>
                        </a:defRPr>
                      </a:pPr>
                      <a:r>
                        <a:t>팀장 확인 필요</a:t>
                      </a:r>
                    </a:p>
                  </a:txBody>
                  <a:tcPr>
                    <a:solidFill>
                      <a:srgbClr val="F1F5F9"/>
                    </a:solidFill>
                  </a:tcPr>
                </a:tc>
              </a:tr>
              <a:tr h="932688">
                <a:tc>
                  <a:txBody>
                    <a:bodyPr/>
                    <a:lstStyle/>
                    <a:p>
                      <a:pPr>
                        <a:defRPr sz="1100" b="1">
                          <a:solidFill>
                            <a:srgbClr val="1E293B"/>
                          </a:solidFill>
                          <a:latin typeface="맑은 고딕"/>
                        </a:defRPr>
                      </a:pPr>
                      <a:r>
                        <a:t>C</a:t>
                      </a:r>
                    </a:p>
                  </a:txBody>
                  <a:tcPr>
                    <a:solidFill>
                      <a:srgbClr val="FFFFFF"/>
                    </a:solidFill>
                  </a:tcPr>
                </a:tc>
                <a:tc>
                  <a:txBody>
                    <a:bodyPr/>
                    <a:lstStyle/>
                    <a:p>
                      <a:pPr>
                        <a:defRPr sz="1100" b="0">
                          <a:solidFill>
                            <a:srgbClr val="1E293B"/>
                          </a:solidFill>
                          <a:latin typeface="맑은 고딕"/>
                        </a:defRPr>
                      </a:pPr>
                      <a:r>
                        <a:t>한도 이내</a:t>
                      </a:r>
                    </a:p>
                  </a:txBody>
                  <a:tcPr>
                    <a:solidFill>
                      <a:srgbClr val="FFFFFF"/>
                    </a:solidFill>
                  </a:tcPr>
                </a:tc>
                <a:tc>
                  <a:txBody>
                    <a:bodyPr/>
                    <a:lstStyle/>
                    <a:p>
                      <a:pPr>
                        <a:defRPr sz="1100" b="0">
                          <a:solidFill>
                            <a:srgbClr val="1E293B"/>
                          </a:solidFill>
                          <a:latin typeface="맑은 고딕"/>
                        </a:defRPr>
                      </a:pPr>
                      <a:r>
                        <a:t>미달</a:t>
                      </a:r>
                    </a:p>
                  </a:txBody>
                  <a:tcPr>
                    <a:solidFill>
                      <a:srgbClr val="FFFFFF"/>
                    </a:solidFill>
                  </a:tcPr>
                </a:tc>
                <a:tc>
                  <a:txBody>
                    <a:bodyPr/>
                    <a:lstStyle/>
                    <a:p>
                      <a:pPr>
                        <a:defRPr sz="1100" b="0">
                          <a:solidFill>
                            <a:srgbClr val="1E293B"/>
                          </a:solidFill>
                          <a:latin typeface="맑은 고딕"/>
                        </a:defRPr>
                      </a:pPr>
                      <a:r>
                        <a:t>승인 필요 (원가·기준 재확인)</a:t>
                      </a:r>
                    </a:p>
                  </a:txBody>
                  <a:tcPr>
                    <a:solidFill>
                      <a:srgbClr val="FFFFFF"/>
                    </a:solidFill>
                  </a:tcPr>
                </a:tc>
              </a:tr>
              <a:tr h="932688">
                <a:tc>
                  <a:txBody>
                    <a:bodyPr/>
                    <a:lstStyle/>
                    <a:p>
                      <a:pPr>
                        <a:defRPr sz="1100" b="1">
                          <a:solidFill>
                            <a:srgbClr val="1E293B"/>
                          </a:solidFill>
                          <a:latin typeface="맑은 고딕"/>
                        </a:defRPr>
                      </a:pPr>
                      <a:r>
                        <a:t>D</a:t>
                      </a:r>
                    </a:p>
                  </a:txBody>
                  <a:tcPr>
                    <a:solidFill>
                      <a:srgbClr val="F1F5F9"/>
                    </a:solidFill>
                  </a:tcPr>
                </a:tc>
                <a:tc>
                  <a:txBody>
                    <a:bodyPr/>
                    <a:lstStyle/>
                    <a:p>
                      <a:pPr>
                        <a:defRPr sz="1100" b="0">
                          <a:solidFill>
                            <a:srgbClr val="1E293B"/>
                          </a:solidFill>
                          <a:latin typeface="맑은 고딕"/>
                        </a:defRPr>
                      </a:pPr>
                      <a:r>
                        <a:t>한도 초과</a:t>
                      </a:r>
                    </a:p>
                  </a:txBody>
                  <a:tcPr>
                    <a:solidFill>
                      <a:srgbClr val="F1F5F9"/>
                    </a:solidFill>
                  </a:tcPr>
                </a:tc>
                <a:tc>
                  <a:txBody>
                    <a:bodyPr/>
                    <a:lstStyle/>
                    <a:p>
                      <a:pPr>
                        <a:defRPr sz="1100" b="0">
                          <a:solidFill>
                            <a:srgbClr val="1E293B"/>
                          </a:solidFill>
                          <a:latin typeface="맑은 고딕"/>
                        </a:defRPr>
                      </a:pPr>
                      <a:r>
                        <a:t>미달</a:t>
                      </a:r>
                    </a:p>
                  </a:txBody>
                  <a:tcPr>
                    <a:solidFill>
                      <a:srgbClr val="F1F5F9"/>
                    </a:solidFill>
                  </a:tcPr>
                </a:tc>
                <a:tc>
                  <a:txBody>
                    <a:bodyPr/>
                    <a:lstStyle/>
                    <a:p>
                      <a:pPr>
                        <a:defRPr sz="1100" b="0">
                          <a:solidFill>
                            <a:srgbClr val="1E293B"/>
                          </a:solidFill>
                          <a:latin typeface="맑은 고딕"/>
                        </a:defRPr>
                      </a:pPr>
                      <a:r>
                        <a:t>승인 필요 + 사유 입력</a:t>
                      </a:r>
                    </a:p>
                  </a:txBody>
                  <a:tcPr>
                    <a:solidFill>
                      <a:srgbClr val="F1F5F9"/>
                    </a:solidFill>
                  </a:tcPr>
                </a:tc>
              </a:tr>
            </a:tbl>
          </a:graphicData>
        </a:graphic>
      </p:graphicFrame>
      <p:sp>
        <p:nvSpPr>
          <p:cNvPr id="8" name="TextBox 7"/>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Session 2 · 도면 검토</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AI에게 만들게 하기 전에, 도면의 빈칸부터 찾게 합니다</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Plan 모드(Shift+Tab)에서 코드를 쓰지 않고 질문만 받습니다</a:t>
            </a:r>
          </a:p>
        </p:txBody>
      </p:sp>
      <p:sp>
        <p:nvSpPr>
          <p:cNvPr id="7" name="Rounded Rectangle 6"/>
          <p:cNvSpPr/>
          <p:nvPr/>
        </p:nvSpPr>
        <p:spPr>
          <a:xfrm>
            <a:off x="548640" y="1371600"/>
            <a:ext cx="411480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54480"/>
            <a:ext cx="3749039" cy="4480560"/>
          </a:xfrm>
          <a:prstGeom prst="rect">
            <a:avLst/>
          </a:prstGeom>
          <a:noFill/>
        </p:spPr>
        <p:txBody>
          <a:bodyPr wrap="square">
            <a:spAutoFit/>
          </a:bodyPr>
          <a:lstStyle/>
          <a:p>
            <a:pPr>
              <a:defRPr sz="1500" b="1">
                <a:solidFill>
                  <a:srgbClr val="2563EB"/>
                </a:solidFill>
                <a:latin typeface="맑은 고딕"/>
              </a:defRPr>
            </a:pPr>
            <a:r>
              <a:t>답변을 다루는 법</a:t>
            </a:r>
          </a:p>
          <a:p>
            <a:pPr>
              <a:spcBef>
                <a:spcPts val="800"/>
              </a:spcBef>
              <a:defRPr sz="1200">
                <a:solidFill>
                  <a:srgbClr val="1E293B"/>
                </a:solidFill>
                <a:latin typeface="맑은 고딕"/>
              </a:defRPr>
            </a:pPr>
            <a:r>
              <a:t>✔ 질문마다 '규정 있음 / 내가 결정 / 담당자 확인'으로 분류</a:t>
            </a:r>
          </a:p>
          <a:p>
            <a:pPr>
              <a:spcBef>
                <a:spcPts val="800"/>
              </a:spcBef>
              <a:defRPr sz="1200">
                <a:solidFill>
                  <a:srgbClr val="1E293B"/>
                </a:solidFill>
                <a:latin typeface="맑은 고딕"/>
              </a:defRPr>
            </a:pPr>
            <a:r>
              <a:t>✔ 내가 결정할 수 없는 항목은 지어내지 말고 미결로 표시</a:t>
            </a:r>
          </a:p>
          <a:p>
            <a:pPr>
              <a:spcBef>
                <a:spcPts val="800"/>
              </a:spcBef>
              <a:defRPr sz="1200">
                <a:solidFill>
                  <a:srgbClr val="1E293B"/>
                </a:solidFill>
                <a:latin typeface="맑은 고딕"/>
              </a:defRPr>
            </a:pPr>
            <a:r>
              <a:t>✔ 결정한 내용은 대화가 아닌 요구도면에 반영</a:t>
            </a:r>
          </a:p>
          <a:p>
            <a:pPr>
              <a:spcBef>
                <a:spcPts val="800"/>
              </a:spcBef>
              <a:defRPr sz="1200">
                <a:solidFill>
                  <a:srgbClr val="1E293B"/>
                </a:solidFill>
                <a:latin typeface="맑은 고딕"/>
              </a:defRPr>
            </a:pPr>
            <a:r>
              <a:t>✔ AI가 제안한 기준은 내가 승인해야 기준이 됨</a:t>
            </a:r>
          </a:p>
        </p:txBody>
      </p:sp>
      <p:sp>
        <p:nvSpPr>
          <p:cNvPr id="9" name="Rounded Rectangle 8"/>
          <p:cNvSpPr/>
          <p:nvPr/>
        </p:nvSpPr>
        <p:spPr>
          <a:xfrm>
            <a:off x="4892040" y="1371600"/>
            <a:ext cx="6720840" cy="48463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08760"/>
            <a:ext cx="6355080" cy="4572000"/>
          </a:xfrm>
          <a:prstGeom prst="rect">
            <a:avLst/>
          </a:prstGeom>
          <a:noFill/>
        </p:spPr>
        <p:txBody>
          <a:bodyPr wrap="square">
            <a:spAutoFit/>
          </a:bodyPr>
          <a:lstStyle/>
          <a:p>
            <a:pPr>
              <a:defRPr sz="1250" b="1">
                <a:solidFill>
                  <a:srgbClr val="60A5FA"/>
                </a:solidFill>
                <a:latin typeface="맑은 고딕"/>
              </a:defRPr>
            </a:pPr>
            <a:r>
              <a:t>실습 ① 요구도면 빈칸 찾기 프롬프트</a:t>
            </a:r>
          </a:p>
          <a:p>
            <a:pPr>
              <a:spcBef>
                <a:spcPts val="300"/>
              </a:spcBef>
              <a:defRPr sz="1100">
                <a:solidFill>
                  <a:srgbClr val="F1F5F9"/>
                </a:solidFill>
                <a:latin typeface="맑은 고딕"/>
              </a:defRPr>
            </a:pPr>
            <a:r>
              <a:t>@docs/요구도면.md 를 업무 검토자 입장에서 읽어 주세요.</a:t>
            </a:r>
          </a:p>
          <a:p>
            <a:pPr>
              <a:spcBef>
                <a:spcPts val="300"/>
              </a:spcBef>
              <a:defRPr sz="1100">
                <a:solidFill>
                  <a:srgbClr val="F1F5F9"/>
                </a:solidFill>
                <a:latin typeface="맑은 고딕"/>
              </a:defRPr>
            </a:pPr>
          </a:p>
          <a:p>
            <a:pPr>
              <a:spcBef>
                <a:spcPts val="300"/>
              </a:spcBef>
              <a:defRPr sz="1100">
                <a:solidFill>
                  <a:srgbClr val="F1F5F9"/>
                </a:solidFill>
                <a:latin typeface="맑은 고딕"/>
              </a:defRPr>
            </a:pPr>
            <a:r>
              <a:t>코드는 작성하거나 수정하지 마세요.</a:t>
            </a:r>
          </a:p>
          <a:p>
            <a:pPr>
              <a:spcBef>
                <a:spcPts val="300"/>
              </a:spcBef>
              <a:defRPr sz="1100">
                <a:solidFill>
                  <a:srgbClr val="F1F5F9"/>
                </a:solidFill>
                <a:latin typeface="맑은 고딕"/>
              </a:defRPr>
            </a:pPr>
            <a:r>
              <a:t>다음 세 가지를 표로 정리해 주세요.</a:t>
            </a:r>
          </a:p>
          <a:p>
            <a:pPr>
              <a:spcBef>
                <a:spcPts val="300"/>
              </a:spcBef>
              <a:defRPr sz="1100">
                <a:solidFill>
                  <a:srgbClr val="F1F5F9"/>
                </a:solidFill>
                <a:latin typeface="맑은 고딕"/>
              </a:defRPr>
            </a:pPr>
            <a:r>
              <a:t>1. 두 사람이 다르게 해석할 수 있는 문장</a:t>
            </a:r>
          </a:p>
          <a:p>
            <a:pPr>
              <a:spcBef>
                <a:spcPts val="300"/>
              </a:spcBef>
              <a:defRPr sz="1100">
                <a:solidFill>
                  <a:srgbClr val="F1F5F9"/>
                </a:solidFill>
                <a:latin typeface="맑은 고딕"/>
              </a:defRPr>
            </a:pPr>
            <a:r>
              <a:t>2. 판정이 정해지지 않은 입력 조합 (빈 값, 0, 기준값과 동일 등)</a:t>
            </a:r>
          </a:p>
          <a:p>
            <a:pPr>
              <a:spcBef>
                <a:spcPts val="300"/>
              </a:spcBef>
              <a:defRPr sz="1100">
                <a:solidFill>
                  <a:srgbClr val="F1F5F9"/>
                </a:solidFill>
                <a:latin typeface="맑은 고딕"/>
              </a:defRPr>
            </a:pPr>
            <a:r>
              <a:t>3. 샘플 CSV에 있지만 요구도면에서 쓰지 않는 컬럼</a:t>
            </a:r>
          </a:p>
          <a:p>
            <a:pPr>
              <a:spcBef>
                <a:spcPts val="300"/>
              </a:spcBef>
              <a:defRPr sz="1100">
                <a:solidFill>
                  <a:srgbClr val="F1F5F9"/>
                </a:solidFill>
                <a:latin typeface="맑은 고딕"/>
              </a:defRPr>
            </a:pPr>
          </a:p>
          <a:p>
            <a:pPr>
              <a:spcBef>
                <a:spcPts val="300"/>
              </a:spcBef>
              <a:defRPr sz="1100">
                <a:solidFill>
                  <a:srgbClr val="F1F5F9"/>
                </a:solidFill>
                <a:latin typeface="맑은 고딕"/>
              </a:defRPr>
            </a:pPr>
            <a:r>
              <a:t>답을 추측해서 채우지 말고, 제가 결정할 질문으로 적어 주세요.</a:t>
            </a:r>
          </a:p>
        </p:txBody>
      </p:sp>
      <p:sp>
        <p:nvSpPr>
          <p:cNvPr id="11" name="TextBox 10"/>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Session 3 · 작업표준</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CLAUDE.md에는 도면을 복사하지 않고 연결합니다</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작업표준은 짧게 유지하고, 업무 규칙의 원본은 요구도면 한 곳에만 둡니다</a:t>
            </a:r>
          </a:p>
        </p:txBody>
      </p:sp>
      <p:sp>
        <p:nvSpPr>
          <p:cNvPr id="7" name="Rounded Rectangle 6"/>
          <p:cNvSpPr/>
          <p:nvPr/>
        </p:nvSpPr>
        <p:spPr>
          <a:xfrm>
            <a:off x="548640" y="1371600"/>
            <a:ext cx="411480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54480"/>
            <a:ext cx="3749039" cy="4480560"/>
          </a:xfrm>
          <a:prstGeom prst="rect">
            <a:avLst/>
          </a:prstGeom>
          <a:noFill/>
        </p:spPr>
        <p:txBody>
          <a:bodyPr wrap="square">
            <a:spAutoFit/>
          </a:bodyPr>
          <a:lstStyle/>
          <a:p>
            <a:pPr>
              <a:defRPr sz="1500" b="1">
                <a:solidFill>
                  <a:srgbClr val="2563EB"/>
                </a:solidFill>
                <a:latin typeface="맑은 고딕"/>
              </a:defRPr>
            </a:pPr>
            <a:r>
              <a:t>작업표준 정비 기준</a:t>
            </a:r>
          </a:p>
          <a:p>
            <a:pPr>
              <a:spcBef>
                <a:spcPts val="800"/>
              </a:spcBef>
              <a:defRPr sz="1200">
                <a:solidFill>
                  <a:srgbClr val="1E293B"/>
                </a:solidFill>
                <a:latin typeface="맑은 고딕"/>
              </a:defRPr>
            </a:pPr>
            <a:r>
              <a:t>✔ 공식 문서 권장 길이는 파일당 200줄 이하</a:t>
            </a:r>
          </a:p>
          <a:p>
            <a:pPr>
              <a:spcBef>
                <a:spcPts val="800"/>
              </a:spcBef>
              <a:defRPr sz="1200">
                <a:solidFill>
                  <a:srgbClr val="1E293B"/>
                </a:solidFill>
                <a:latin typeface="맑은 고딕"/>
              </a:defRPr>
            </a:pPr>
            <a:r>
              <a:t>✔ @경로 표기로 다른 문서를 함께 불러올 수 있음</a:t>
            </a:r>
          </a:p>
          <a:p>
            <a:pPr>
              <a:spcBef>
                <a:spcPts val="800"/>
              </a:spcBef>
              <a:defRPr sz="1200">
                <a:solidFill>
                  <a:srgbClr val="1E293B"/>
                </a:solidFill>
                <a:latin typeface="맑은 고딕"/>
              </a:defRPr>
            </a:pPr>
            <a:r>
              <a:t>✔ '꼼꼼히' 대신 확인 가능한 문장으로 쓰기</a:t>
            </a:r>
          </a:p>
          <a:p>
            <a:pPr>
              <a:spcBef>
                <a:spcPts val="800"/>
              </a:spcBef>
              <a:defRPr sz="1200">
                <a:solidFill>
                  <a:srgbClr val="1E293B"/>
                </a:solidFill>
                <a:latin typeface="맑은 고딕"/>
              </a:defRPr>
            </a:pPr>
            <a:r>
              <a:t>✔ CLAUDE.md는 강제 장치가 아니라 AI가 참고하는 맥락</a:t>
            </a:r>
          </a:p>
          <a:p>
            <a:pPr>
              <a:spcBef>
                <a:spcPts val="800"/>
              </a:spcBef>
              <a:defRPr sz="1200">
                <a:solidFill>
                  <a:srgbClr val="1E293B"/>
                </a:solidFill>
                <a:latin typeface="맑은 고딕"/>
              </a:defRPr>
            </a:pPr>
            <a:r>
              <a:t>✔ 그래서 결과는 반드시 자가검사로 확인</a:t>
            </a:r>
          </a:p>
        </p:txBody>
      </p:sp>
      <p:sp>
        <p:nvSpPr>
          <p:cNvPr id="9" name="Rounded Rectangle 8"/>
          <p:cNvSpPr/>
          <p:nvPr/>
        </p:nvSpPr>
        <p:spPr>
          <a:xfrm>
            <a:off x="4892040" y="1371600"/>
            <a:ext cx="6720840" cy="48463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08760"/>
            <a:ext cx="6355080" cy="4572000"/>
          </a:xfrm>
          <a:prstGeom prst="rect">
            <a:avLst/>
          </a:prstGeom>
          <a:noFill/>
        </p:spPr>
        <p:txBody>
          <a:bodyPr wrap="square">
            <a:spAutoFit/>
          </a:bodyPr>
          <a:lstStyle/>
          <a:p>
            <a:pPr>
              <a:defRPr sz="1250" b="1">
                <a:solidFill>
                  <a:srgbClr val="60A5FA"/>
                </a:solidFill>
                <a:latin typeface="맑은 고딕"/>
              </a:defRPr>
            </a:pPr>
            <a:r>
              <a:t>CLAUDE.md (작업표준 예시)</a:t>
            </a:r>
          </a:p>
          <a:p>
            <a:pPr>
              <a:spcBef>
                <a:spcPts val="300"/>
              </a:spcBef>
              <a:defRPr sz="1100">
                <a:solidFill>
                  <a:srgbClr val="F1F5F9"/>
                </a:solidFill>
                <a:latin typeface="맑은 고딕"/>
              </a:defRPr>
            </a:pPr>
            <a:r>
              <a:t># 견적 검증기 작업표준</a:t>
            </a:r>
          </a:p>
          <a:p>
            <a:pPr>
              <a:spcBef>
                <a:spcPts val="300"/>
              </a:spcBef>
              <a:defRPr sz="1100">
                <a:solidFill>
                  <a:srgbClr val="F1F5F9"/>
                </a:solidFill>
                <a:latin typeface="맑은 고딕"/>
              </a:defRPr>
            </a:pPr>
          </a:p>
          <a:p>
            <a:pPr>
              <a:spcBef>
                <a:spcPts val="300"/>
              </a:spcBef>
              <a:defRPr sz="1100">
                <a:solidFill>
                  <a:srgbClr val="F1F5F9"/>
                </a:solidFill>
                <a:latin typeface="맑은 고딕"/>
              </a:defRPr>
            </a:pPr>
            <a:r>
              <a:t>## 기준 문서 (규칙의 원본)</a:t>
            </a:r>
          </a:p>
          <a:p>
            <a:pPr>
              <a:spcBef>
                <a:spcPts val="300"/>
              </a:spcBef>
              <a:defRPr sz="1100">
                <a:solidFill>
                  <a:srgbClr val="F1F5F9"/>
                </a:solidFill>
                <a:latin typeface="맑은 고딕"/>
              </a:defRPr>
            </a:pPr>
            <a:r>
              <a:t>- 판정 규칙: @docs/요구도면.md</a:t>
            </a:r>
          </a:p>
          <a:p>
            <a:pPr>
              <a:spcBef>
                <a:spcPts val="300"/>
              </a:spcBef>
              <a:defRPr sz="1100">
                <a:solidFill>
                  <a:srgbClr val="F1F5F9"/>
                </a:solidFill>
                <a:latin typeface="맑은 고딕"/>
              </a:defRPr>
            </a:pPr>
            <a:r>
              <a:t>- 합격 기준: @docs/검사기준.md</a:t>
            </a:r>
          </a:p>
          <a:p>
            <a:pPr>
              <a:spcBef>
                <a:spcPts val="300"/>
              </a:spcBef>
              <a:defRPr sz="1100">
                <a:solidFill>
                  <a:srgbClr val="F1F5F9"/>
                </a:solidFill>
                <a:latin typeface="맑은 고딕"/>
              </a:defRPr>
            </a:pPr>
          </a:p>
          <a:p>
            <a:pPr>
              <a:spcBef>
                <a:spcPts val="300"/>
              </a:spcBef>
              <a:defRPr sz="1100">
                <a:solidFill>
                  <a:srgbClr val="F1F5F9"/>
                </a:solidFill>
                <a:latin typeface="맑은 고딕"/>
              </a:defRPr>
            </a:pPr>
            <a:r>
              <a:t>## 작업 규칙</a:t>
            </a:r>
          </a:p>
          <a:p>
            <a:pPr>
              <a:spcBef>
                <a:spcPts val="300"/>
              </a:spcBef>
              <a:defRPr sz="1100">
                <a:solidFill>
                  <a:srgbClr val="F1F5F9"/>
                </a:solidFill>
                <a:latin typeface="맑은 고딕"/>
              </a:defRPr>
            </a:pPr>
            <a:r>
              <a:t>- 서버 없이 index.html 단일 파일로 동작</a:t>
            </a:r>
          </a:p>
          <a:p>
            <a:pPr>
              <a:spcBef>
                <a:spcPts val="300"/>
              </a:spcBef>
              <a:defRPr sz="1100">
                <a:solidFill>
                  <a:srgbClr val="F1F5F9"/>
                </a:solidFill>
                <a:latin typeface="맑은 고딕"/>
              </a:defRPr>
            </a:pPr>
            <a:r>
              <a:t>- 실제 고객명·원가를 파일에 쓰지 않고 합성 데이터만 사용</a:t>
            </a:r>
          </a:p>
          <a:p>
            <a:pPr>
              <a:spcBef>
                <a:spcPts val="300"/>
              </a:spcBef>
              <a:defRPr sz="1100">
                <a:solidFill>
                  <a:srgbClr val="F1F5F9"/>
                </a:solidFill>
                <a:latin typeface="맑은 고딕"/>
              </a:defRPr>
            </a:pPr>
            <a:r>
              <a:t>- 판정 규칙을 임의로 해석하지 말고 불명확하면 질문</a:t>
            </a:r>
          </a:p>
          <a:p>
            <a:pPr>
              <a:spcBef>
                <a:spcPts val="300"/>
              </a:spcBef>
              <a:defRPr sz="1100">
                <a:solidFill>
                  <a:srgbClr val="F1F5F9"/>
                </a:solidFill>
                <a:latin typeface="맑은 고딕"/>
              </a:defRPr>
            </a:pPr>
            <a:r>
              <a:t>- 규칙 변경은 요구도면 → 검사기준 → 코드 순서로 반영</a:t>
            </a:r>
          </a:p>
          <a:p>
            <a:pPr>
              <a:spcBef>
                <a:spcPts val="300"/>
              </a:spcBef>
              <a:defRPr sz="1100">
                <a:solidFill>
                  <a:srgbClr val="F1F5F9"/>
                </a:solidFill>
                <a:latin typeface="맑은 고딕"/>
              </a:defRPr>
            </a:pPr>
            <a:r>
              <a:t>- 작업을 마치면 자가검사 결과를 보고</a:t>
            </a:r>
          </a:p>
        </p:txBody>
      </p:sp>
      <p:sp>
        <p:nvSpPr>
          <p:cNvPr id="11" name="TextBox 10"/>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Session 3 · 검사기준</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검사기준서에는 '정답'을 사람이 먼저 적습니다</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AI가 만든 결과를 AI에게 맞느냐고 묻지 않습니다. 엑셀로 직접 계산해 고정합니다</a:t>
            </a:r>
          </a:p>
        </p:txBody>
      </p:sp>
      <p:graphicFrame>
        <p:nvGraphicFramePr>
          <p:cNvPr id="7" name="Table 6"/>
          <p:cNvGraphicFramePr>
            <a:graphicFrameLocks noGrp="1"/>
          </p:cNvGraphicFramePr>
          <p:nvPr/>
        </p:nvGraphicFramePr>
        <p:xfrm>
          <a:off x="548640" y="1417320"/>
          <a:ext cx="11064240" cy="466344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666205">
                <a:tc>
                  <a:txBody>
                    <a:bodyPr/>
                    <a:lstStyle/>
                    <a:p>
                      <a:pPr>
                        <a:defRPr sz="1150" b="1">
                          <a:solidFill>
                            <a:srgbClr val="FFFFFF"/>
                          </a:solidFill>
                          <a:latin typeface="맑은 고딕"/>
                        </a:defRPr>
                      </a:pPr>
                      <a:r>
                        <a:t>No</a:t>
                      </a:r>
                    </a:p>
                  </a:txBody>
                  <a:tcPr>
                    <a:solidFill>
                      <a:srgbClr val="0F172A"/>
                    </a:solidFill>
                  </a:tcPr>
                </a:tc>
                <a:tc>
                  <a:txBody>
                    <a:bodyPr/>
                    <a:lstStyle/>
                    <a:p>
                      <a:pPr>
                        <a:defRPr sz="1150" b="1">
                          <a:solidFill>
                            <a:srgbClr val="FFFFFF"/>
                          </a:solidFill>
                          <a:latin typeface="맑은 고딕"/>
                        </a:defRPr>
                      </a:pPr>
                      <a:r>
                        <a:t>입력</a:t>
                      </a:r>
                    </a:p>
                  </a:txBody>
                  <a:tcPr>
                    <a:solidFill>
                      <a:srgbClr val="0F172A"/>
                    </a:solidFill>
                  </a:tcPr>
                </a:tc>
                <a:tc>
                  <a:txBody>
                    <a:bodyPr/>
                    <a:lstStyle/>
                    <a:p>
                      <a:pPr>
                        <a:defRPr sz="1150" b="1">
                          <a:solidFill>
                            <a:srgbClr val="FFFFFF"/>
                          </a:solidFill>
                          <a:latin typeface="맑은 고딕"/>
                        </a:defRPr>
                      </a:pPr>
                      <a:r>
                        <a:t>기대 단가</a:t>
                      </a:r>
                    </a:p>
                  </a:txBody>
                  <a:tcPr>
                    <a:solidFill>
                      <a:srgbClr val="0F172A"/>
                    </a:solidFill>
                  </a:tcPr>
                </a:tc>
                <a:tc>
                  <a:txBody>
                    <a:bodyPr/>
                    <a:lstStyle/>
                    <a:p>
                      <a:pPr>
                        <a:defRPr sz="1150" b="1">
                          <a:solidFill>
                            <a:srgbClr val="FFFFFF"/>
                          </a:solidFill>
                          <a:latin typeface="맑은 고딕"/>
                        </a:defRPr>
                      </a:pPr>
                      <a:r>
                        <a:t>기대 마진율</a:t>
                      </a:r>
                    </a:p>
                  </a:txBody>
                  <a:tcPr>
                    <a:solidFill>
                      <a:srgbClr val="0F172A"/>
                    </a:solidFill>
                  </a:tcPr>
                </a:tc>
                <a:tc>
                  <a:txBody>
                    <a:bodyPr/>
                    <a:lstStyle/>
                    <a:p>
                      <a:pPr>
                        <a:defRPr sz="1150" b="1">
                          <a:solidFill>
                            <a:srgbClr val="FFFFFF"/>
                          </a:solidFill>
                          <a:latin typeface="맑은 고딕"/>
                        </a:defRPr>
                      </a:pPr>
                      <a:r>
                        <a:t>기대 판정</a:t>
                      </a:r>
                    </a:p>
                  </a:txBody>
                  <a:tcPr>
                    <a:solidFill>
                      <a:srgbClr val="0F172A"/>
                    </a:solidFill>
                  </a:tcPr>
                </a:tc>
                <a:tc>
                  <a:txBody>
                    <a:bodyPr/>
                    <a:lstStyle/>
                    <a:p>
                      <a:pPr>
                        <a:defRPr sz="1150" b="1">
                          <a:solidFill>
                            <a:srgbClr val="FFFFFF"/>
                          </a:solidFill>
                          <a:latin typeface="맑은 고딕"/>
                        </a:defRPr>
                      </a:pPr>
                      <a:r>
                        <a:t>검사 목적</a:t>
                      </a:r>
                    </a:p>
                  </a:txBody>
                  <a:tcPr>
                    <a:solidFill>
                      <a:srgbClr val="0F172A"/>
                    </a:solidFill>
                  </a:tcPr>
                </a:tc>
              </a:tr>
              <a:tr h="666205">
                <a:tc>
                  <a:txBody>
                    <a:bodyPr/>
                    <a:lstStyle/>
                    <a:p>
                      <a:pPr>
                        <a:defRPr sz="1100" b="1">
                          <a:solidFill>
                            <a:srgbClr val="1E293B"/>
                          </a:solidFill>
                          <a:latin typeface="맑은 고딕"/>
                        </a:defRPr>
                      </a:pPr>
                      <a:r>
                        <a:t>1</a:t>
                      </a:r>
                    </a:p>
                  </a:txBody>
                  <a:tcPr>
                    <a:solidFill>
                      <a:srgbClr val="FFFFFF"/>
                    </a:solidFill>
                  </a:tcPr>
                </a:tc>
                <a:tc>
                  <a:txBody>
                    <a:bodyPr/>
                    <a:lstStyle/>
                    <a:p>
                      <a:pPr>
                        <a:defRPr sz="1100" b="0">
                          <a:solidFill>
                            <a:srgbClr val="1E293B"/>
                          </a:solidFill>
                          <a:latin typeface="맑은 고딕"/>
                        </a:defRPr>
                      </a:pPr>
                      <a:r>
                        <a:t>MOT-500A, 할인 8%</a:t>
                      </a:r>
                    </a:p>
                  </a:txBody>
                  <a:tcPr>
                    <a:solidFill>
                      <a:srgbClr val="FFFFFF"/>
                    </a:solidFill>
                  </a:tcPr>
                </a:tc>
                <a:tc>
                  <a:txBody>
                    <a:bodyPr/>
                    <a:lstStyle/>
                    <a:p>
                      <a:pPr>
                        <a:defRPr sz="1100" b="0">
                          <a:solidFill>
                            <a:srgbClr val="1E293B"/>
                          </a:solidFill>
                          <a:latin typeface="맑은 고딕"/>
                        </a:defRPr>
                      </a:pPr>
                      <a:r>
                        <a:t>170.20</a:t>
                      </a:r>
                    </a:p>
                  </a:txBody>
                  <a:tcPr>
                    <a:solidFill>
                      <a:srgbClr val="FFFFFF"/>
                    </a:solidFill>
                  </a:tcPr>
                </a:tc>
                <a:tc>
                  <a:txBody>
                    <a:bodyPr/>
                    <a:lstStyle/>
                    <a:p>
                      <a:pPr>
                        <a:defRPr sz="1100" b="0">
                          <a:solidFill>
                            <a:srgbClr val="1E293B"/>
                          </a:solidFill>
                          <a:latin typeface="맑은 고딕"/>
                        </a:defRPr>
                      </a:pPr>
                      <a:r>
                        <a:t>28.3%</a:t>
                      </a:r>
                    </a:p>
                  </a:txBody>
                  <a:tcPr>
                    <a:solidFill>
                      <a:srgbClr val="FFFFFF"/>
                    </a:solidFill>
                  </a:tcPr>
                </a:tc>
                <a:tc>
                  <a:txBody>
                    <a:bodyPr/>
                    <a:lstStyle/>
                    <a:p>
                      <a:pPr>
                        <a:defRPr sz="1100" b="0">
                          <a:solidFill>
                            <a:srgbClr val="1E293B"/>
                          </a:solidFill>
                          <a:latin typeface="맑은 고딕"/>
                        </a:defRPr>
                      </a:pPr>
                      <a:r>
                        <a:t>A 즉시발행</a:t>
                      </a:r>
                    </a:p>
                  </a:txBody>
                  <a:tcPr>
                    <a:solidFill>
                      <a:srgbClr val="FFFFFF"/>
                    </a:solidFill>
                  </a:tcPr>
                </a:tc>
                <a:tc>
                  <a:txBody>
                    <a:bodyPr/>
                    <a:lstStyle/>
                    <a:p>
                      <a:pPr>
                        <a:defRPr sz="1100" b="0">
                          <a:solidFill>
                            <a:srgbClr val="1E293B"/>
                          </a:solidFill>
                          <a:latin typeface="맑은 고딕"/>
                        </a:defRPr>
                      </a:pPr>
                      <a:r>
                        <a:t>정상 경로</a:t>
                      </a:r>
                    </a:p>
                  </a:txBody>
                  <a:tcPr>
                    <a:solidFill>
                      <a:srgbClr val="FFFFFF"/>
                    </a:solidFill>
                  </a:tcPr>
                </a:tc>
              </a:tr>
              <a:tr h="666205">
                <a:tc>
                  <a:txBody>
                    <a:bodyPr/>
                    <a:lstStyle/>
                    <a:p>
                      <a:pPr>
                        <a:defRPr sz="1100" b="1">
                          <a:solidFill>
                            <a:srgbClr val="1E293B"/>
                          </a:solidFill>
                          <a:latin typeface="맑은 고딕"/>
                        </a:defRPr>
                      </a:pPr>
                      <a:r>
                        <a:t>2</a:t>
                      </a:r>
                    </a:p>
                  </a:txBody>
                  <a:tcPr>
                    <a:solidFill>
                      <a:srgbClr val="F1F5F9"/>
                    </a:solidFill>
                  </a:tcPr>
                </a:tc>
                <a:tc>
                  <a:txBody>
                    <a:bodyPr/>
                    <a:lstStyle/>
                    <a:p>
                      <a:pPr>
                        <a:defRPr sz="1100" b="0">
                          <a:solidFill>
                            <a:srgbClr val="1E293B"/>
                          </a:solidFill>
                          <a:latin typeface="맑은 고딕"/>
                        </a:defRPr>
                      </a:pPr>
                      <a:r>
                        <a:t>MOT-500A, 할인 12%</a:t>
                      </a:r>
                    </a:p>
                  </a:txBody>
                  <a:tcPr>
                    <a:solidFill>
                      <a:srgbClr val="F1F5F9"/>
                    </a:solidFill>
                  </a:tcPr>
                </a:tc>
                <a:tc>
                  <a:txBody>
                    <a:bodyPr/>
                    <a:lstStyle/>
                    <a:p>
                      <a:pPr>
                        <a:defRPr sz="1100" b="0">
                          <a:solidFill>
                            <a:srgbClr val="1E293B"/>
                          </a:solidFill>
                          <a:latin typeface="맑은 고딕"/>
                        </a:defRPr>
                      </a:pPr>
                      <a:r>
                        <a:t>162.80</a:t>
                      </a:r>
                    </a:p>
                  </a:txBody>
                  <a:tcPr>
                    <a:solidFill>
                      <a:srgbClr val="F1F5F9"/>
                    </a:solidFill>
                  </a:tcPr>
                </a:tc>
                <a:tc>
                  <a:txBody>
                    <a:bodyPr/>
                    <a:lstStyle/>
                    <a:p>
                      <a:pPr>
                        <a:defRPr sz="1100" b="0">
                          <a:solidFill>
                            <a:srgbClr val="1E293B"/>
                          </a:solidFill>
                          <a:latin typeface="맑은 고딕"/>
                        </a:defRPr>
                      </a:pPr>
                      <a:r>
                        <a:t>25.1%</a:t>
                      </a:r>
                    </a:p>
                  </a:txBody>
                  <a:tcPr>
                    <a:solidFill>
                      <a:srgbClr val="F1F5F9"/>
                    </a:solidFill>
                  </a:tcPr>
                </a:tc>
                <a:tc>
                  <a:txBody>
                    <a:bodyPr/>
                    <a:lstStyle/>
                    <a:p>
                      <a:pPr>
                        <a:defRPr sz="1100" b="0">
                          <a:solidFill>
                            <a:srgbClr val="1E293B"/>
                          </a:solidFill>
                          <a:latin typeface="맑은 고딕"/>
                        </a:defRPr>
                      </a:pPr>
                      <a:r>
                        <a:t>A 즉시발행</a:t>
                      </a:r>
                    </a:p>
                  </a:txBody>
                  <a:tcPr>
                    <a:solidFill>
                      <a:srgbClr val="F1F5F9"/>
                    </a:solidFill>
                  </a:tcPr>
                </a:tc>
                <a:tc>
                  <a:txBody>
                    <a:bodyPr/>
                    <a:lstStyle/>
                    <a:p>
                      <a:pPr>
                        <a:defRPr sz="1100" b="0">
                          <a:solidFill>
                            <a:srgbClr val="1E293B"/>
                          </a:solidFill>
                          <a:latin typeface="맑은 고딕"/>
                        </a:defRPr>
                      </a:pPr>
                      <a:r>
                        <a:t>한도와 동일 (경계값)</a:t>
                      </a:r>
                    </a:p>
                  </a:txBody>
                  <a:tcPr>
                    <a:solidFill>
                      <a:srgbClr val="F1F5F9"/>
                    </a:solidFill>
                  </a:tcPr>
                </a:tc>
              </a:tr>
              <a:tr h="666205">
                <a:tc>
                  <a:txBody>
                    <a:bodyPr/>
                    <a:lstStyle/>
                    <a:p>
                      <a:pPr>
                        <a:defRPr sz="1100" b="1">
                          <a:solidFill>
                            <a:srgbClr val="1E293B"/>
                          </a:solidFill>
                          <a:latin typeface="맑은 고딕"/>
                        </a:defRPr>
                      </a:pPr>
                      <a:r>
                        <a:t>3</a:t>
                      </a:r>
                    </a:p>
                  </a:txBody>
                  <a:tcPr>
                    <a:solidFill>
                      <a:srgbClr val="FFFFFF"/>
                    </a:solidFill>
                  </a:tcPr>
                </a:tc>
                <a:tc>
                  <a:txBody>
                    <a:bodyPr/>
                    <a:lstStyle/>
                    <a:p>
                      <a:pPr>
                        <a:defRPr sz="1100" b="0">
                          <a:solidFill>
                            <a:srgbClr val="1E293B"/>
                          </a:solidFill>
                          <a:latin typeface="맑은 고딕"/>
                        </a:defRPr>
                      </a:pPr>
                      <a:r>
                        <a:t>MOT-500A, 할인 15%</a:t>
                      </a:r>
                    </a:p>
                  </a:txBody>
                  <a:tcPr>
                    <a:solidFill>
                      <a:srgbClr val="FFFFFF"/>
                    </a:solidFill>
                  </a:tcPr>
                </a:tc>
                <a:tc>
                  <a:txBody>
                    <a:bodyPr/>
                    <a:lstStyle/>
                    <a:p>
                      <a:pPr>
                        <a:defRPr sz="1100" b="0">
                          <a:solidFill>
                            <a:srgbClr val="1E293B"/>
                          </a:solidFill>
                          <a:latin typeface="맑은 고딕"/>
                        </a:defRPr>
                      </a:pPr>
                      <a:r>
                        <a:t>157.25</a:t>
                      </a:r>
                    </a:p>
                  </a:txBody>
                  <a:tcPr>
                    <a:solidFill>
                      <a:srgbClr val="FFFFFF"/>
                    </a:solidFill>
                  </a:tcPr>
                </a:tc>
                <a:tc>
                  <a:txBody>
                    <a:bodyPr/>
                    <a:lstStyle/>
                    <a:p>
                      <a:pPr>
                        <a:defRPr sz="1100" b="0">
                          <a:solidFill>
                            <a:srgbClr val="1E293B"/>
                          </a:solidFill>
                          <a:latin typeface="맑은 고딕"/>
                        </a:defRPr>
                      </a:pPr>
                      <a:r>
                        <a:t>22.4%</a:t>
                      </a:r>
                    </a:p>
                  </a:txBody>
                  <a:tcPr>
                    <a:solidFill>
                      <a:srgbClr val="FFFFFF"/>
                    </a:solidFill>
                  </a:tcPr>
                </a:tc>
                <a:tc>
                  <a:txBody>
                    <a:bodyPr/>
                    <a:lstStyle/>
                    <a:p>
                      <a:pPr>
                        <a:defRPr sz="1100" b="0">
                          <a:solidFill>
                            <a:srgbClr val="1E293B"/>
                          </a:solidFill>
                          <a:latin typeface="맑은 고딕"/>
                        </a:defRPr>
                      </a:pPr>
                      <a:r>
                        <a:t>B 팀장 확인</a:t>
                      </a:r>
                    </a:p>
                  </a:txBody>
                  <a:tcPr>
                    <a:solidFill>
                      <a:srgbClr val="FFFFFF"/>
                    </a:solidFill>
                  </a:tcPr>
                </a:tc>
                <a:tc>
                  <a:txBody>
                    <a:bodyPr/>
                    <a:lstStyle/>
                    <a:p>
                      <a:pPr>
                        <a:defRPr sz="1100" b="0">
                          <a:solidFill>
                            <a:srgbClr val="1E293B"/>
                          </a:solidFill>
                          <a:latin typeface="맑은 고딕"/>
                        </a:defRPr>
                      </a:pPr>
                      <a:r>
                        <a:t>이번에 발견한 누락</a:t>
                      </a:r>
                    </a:p>
                  </a:txBody>
                  <a:tcPr>
                    <a:solidFill>
                      <a:srgbClr val="FFFFFF"/>
                    </a:solidFill>
                  </a:tcPr>
                </a:tc>
              </a:tr>
              <a:tr h="666205">
                <a:tc>
                  <a:txBody>
                    <a:bodyPr/>
                    <a:lstStyle/>
                    <a:p>
                      <a:pPr>
                        <a:defRPr sz="1100" b="1">
                          <a:solidFill>
                            <a:srgbClr val="1E293B"/>
                          </a:solidFill>
                          <a:latin typeface="맑은 고딕"/>
                        </a:defRPr>
                      </a:pPr>
                      <a:r>
                        <a:t>4</a:t>
                      </a:r>
                    </a:p>
                  </a:txBody>
                  <a:tcPr>
                    <a:solidFill>
                      <a:srgbClr val="F1F5F9"/>
                    </a:solidFill>
                  </a:tcPr>
                </a:tc>
                <a:tc>
                  <a:txBody>
                    <a:bodyPr/>
                    <a:lstStyle/>
                    <a:p>
                      <a:pPr>
                        <a:defRPr sz="1100" b="0">
                          <a:solidFill>
                            <a:srgbClr val="1E293B"/>
                          </a:solidFill>
                          <a:latin typeface="맑은 고딕"/>
                        </a:defRPr>
                      </a:pPr>
                      <a:r>
                        <a:t>PLC-900M, 할인 15%</a:t>
                      </a:r>
                    </a:p>
                  </a:txBody>
                  <a:tcPr>
                    <a:solidFill>
                      <a:srgbClr val="F1F5F9"/>
                    </a:solidFill>
                  </a:tcPr>
                </a:tc>
                <a:tc>
                  <a:txBody>
                    <a:bodyPr/>
                    <a:lstStyle/>
                    <a:p>
                      <a:pPr>
                        <a:defRPr sz="1100" b="0">
                          <a:solidFill>
                            <a:srgbClr val="1E293B"/>
                          </a:solidFill>
                          <a:latin typeface="맑은 고딕"/>
                        </a:defRPr>
                      </a:pPr>
                      <a:r>
                        <a:t>578.00</a:t>
                      </a:r>
                    </a:p>
                  </a:txBody>
                  <a:tcPr>
                    <a:solidFill>
                      <a:srgbClr val="F1F5F9"/>
                    </a:solidFill>
                  </a:tcPr>
                </a:tc>
                <a:tc>
                  <a:txBody>
                    <a:bodyPr/>
                    <a:lstStyle/>
                    <a:p>
                      <a:pPr>
                        <a:defRPr sz="1100" b="0">
                          <a:solidFill>
                            <a:srgbClr val="1E293B"/>
                          </a:solidFill>
                          <a:latin typeface="맑은 고딕"/>
                        </a:defRPr>
                      </a:pPr>
                      <a:r>
                        <a:t>23.5%</a:t>
                      </a:r>
                    </a:p>
                  </a:txBody>
                  <a:tcPr>
                    <a:solidFill>
                      <a:srgbClr val="F1F5F9"/>
                    </a:solidFill>
                  </a:tcPr>
                </a:tc>
                <a:tc>
                  <a:txBody>
                    <a:bodyPr/>
                    <a:lstStyle/>
                    <a:p>
                      <a:pPr>
                        <a:defRPr sz="1100" b="0">
                          <a:solidFill>
                            <a:srgbClr val="1E293B"/>
                          </a:solidFill>
                          <a:latin typeface="맑은 고딕"/>
                        </a:defRPr>
                      </a:pPr>
                      <a:r>
                        <a:t>D 승인+사유</a:t>
                      </a:r>
                    </a:p>
                  </a:txBody>
                  <a:tcPr>
                    <a:solidFill>
                      <a:srgbClr val="F1F5F9"/>
                    </a:solidFill>
                  </a:tcPr>
                </a:tc>
                <a:tc>
                  <a:txBody>
                    <a:bodyPr/>
                    <a:lstStyle/>
                    <a:p>
                      <a:pPr>
                        <a:defRPr sz="1100" b="0">
                          <a:solidFill>
                            <a:srgbClr val="1E293B"/>
                          </a:solidFill>
                          <a:latin typeface="맑은 고딕"/>
                        </a:defRPr>
                      </a:pPr>
                      <a:r>
                        <a:t>두 조건 동시 위반</a:t>
                      </a:r>
                    </a:p>
                  </a:txBody>
                  <a:tcPr>
                    <a:solidFill>
                      <a:srgbClr val="F1F5F9"/>
                    </a:solidFill>
                  </a:tcPr>
                </a:tc>
              </a:tr>
              <a:tr h="666205">
                <a:tc>
                  <a:txBody>
                    <a:bodyPr/>
                    <a:lstStyle/>
                    <a:p>
                      <a:pPr>
                        <a:defRPr sz="1100" b="1">
                          <a:solidFill>
                            <a:srgbClr val="1E293B"/>
                          </a:solidFill>
                          <a:latin typeface="맑은 고딕"/>
                        </a:defRPr>
                      </a:pPr>
                      <a:r>
                        <a:t>5</a:t>
                      </a:r>
                    </a:p>
                  </a:txBody>
                  <a:tcPr>
                    <a:solidFill>
                      <a:srgbClr val="FFFFFF"/>
                    </a:solidFill>
                  </a:tcPr>
                </a:tc>
                <a:tc>
                  <a:txBody>
                    <a:bodyPr/>
                    <a:lstStyle/>
                    <a:p>
                      <a:pPr>
                        <a:defRPr sz="1100" b="0">
                          <a:solidFill>
                            <a:srgbClr val="1E293B"/>
                          </a:solidFill>
                          <a:latin typeface="맑은 고딕"/>
                        </a:defRPr>
                      </a:pPr>
                      <a:r>
                        <a:t>TEST-01, 할인 0%</a:t>
                      </a:r>
                    </a:p>
                  </a:txBody>
                  <a:tcPr>
                    <a:solidFill>
                      <a:srgbClr val="FFFFFF"/>
                    </a:solidFill>
                  </a:tcPr>
                </a:tc>
                <a:tc>
                  <a:txBody>
                    <a:bodyPr/>
                    <a:lstStyle/>
                    <a:p>
                      <a:pPr>
                        <a:defRPr sz="1100" b="0">
                          <a:solidFill>
                            <a:srgbClr val="1E293B"/>
                          </a:solidFill>
                          <a:latin typeface="맑은 고딕"/>
                        </a:defRPr>
                      </a:pPr>
                      <a:r>
                        <a:t>100.00</a:t>
                      </a:r>
                    </a:p>
                  </a:txBody>
                  <a:tcPr>
                    <a:solidFill>
                      <a:srgbClr val="FFFFFF"/>
                    </a:solidFill>
                  </a:tcPr>
                </a:tc>
                <a:tc>
                  <a:txBody>
                    <a:bodyPr/>
                    <a:lstStyle/>
                    <a:p>
                      <a:pPr>
                        <a:defRPr sz="1100" b="0">
                          <a:solidFill>
                            <a:srgbClr val="1E293B"/>
                          </a:solidFill>
                          <a:latin typeface="맑은 고딕"/>
                        </a:defRPr>
                      </a:pPr>
                      <a:r>
                        <a:t>20.0%</a:t>
                      </a:r>
                    </a:p>
                  </a:txBody>
                  <a:tcPr>
                    <a:solidFill>
                      <a:srgbClr val="FFFFFF"/>
                    </a:solidFill>
                  </a:tcPr>
                </a:tc>
                <a:tc>
                  <a:txBody>
                    <a:bodyPr/>
                    <a:lstStyle/>
                    <a:p>
                      <a:pPr>
                        <a:defRPr sz="1100" b="0">
                          <a:solidFill>
                            <a:srgbClr val="1E293B"/>
                          </a:solidFill>
                          <a:latin typeface="맑은 고딕"/>
                        </a:defRPr>
                      </a:pPr>
                      <a:r>
                        <a:t>C 승인 필요</a:t>
                      </a:r>
                    </a:p>
                  </a:txBody>
                  <a:tcPr>
                    <a:solidFill>
                      <a:srgbClr val="FFFFFF"/>
                    </a:solidFill>
                  </a:tcPr>
                </a:tc>
                <a:tc>
                  <a:txBody>
                    <a:bodyPr/>
                    <a:lstStyle/>
                    <a:p>
                      <a:pPr>
                        <a:defRPr sz="1100" b="0">
                          <a:solidFill>
                            <a:srgbClr val="1E293B"/>
                          </a:solidFill>
                          <a:latin typeface="맑은 고딕"/>
                        </a:defRPr>
                      </a:pPr>
                      <a:r>
                        <a:t>샘플에 없는 조합</a:t>
                      </a:r>
                    </a:p>
                  </a:txBody>
                  <a:tcPr>
                    <a:solidFill>
                      <a:srgbClr val="FFFFFF"/>
                    </a:solidFill>
                  </a:tcPr>
                </a:tc>
              </a:tr>
              <a:tr h="666210">
                <a:tc>
                  <a:txBody>
                    <a:bodyPr/>
                    <a:lstStyle/>
                    <a:p>
                      <a:pPr>
                        <a:defRPr sz="1100" b="1">
                          <a:solidFill>
                            <a:srgbClr val="1E293B"/>
                          </a:solidFill>
                          <a:latin typeface="맑은 고딕"/>
                        </a:defRPr>
                      </a:pPr>
                      <a:r>
                        <a:t>6</a:t>
                      </a:r>
                    </a:p>
                  </a:txBody>
                  <a:tcPr>
                    <a:solidFill>
                      <a:srgbClr val="F1F5F9"/>
                    </a:solidFill>
                  </a:tcPr>
                </a:tc>
                <a:tc>
                  <a:txBody>
                    <a:bodyPr/>
                    <a:lstStyle/>
                    <a:p>
                      <a:pPr>
                        <a:defRPr sz="1100" b="0">
                          <a:solidFill>
                            <a:srgbClr val="1E293B"/>
                          </a:solidFill>
                          <a:latin typeface="맑은 고딕"/>
                        </a:defRPr>
                      </a:pPr>
                      <a:r>
                        <a:t>TEST-02, 할인 0%</a:t>
                      </a:r>
                    </a:p>
                  </a:txBody>
                  <a:tcPr>
                    <a:solidFill>
                      <a:srgbClr val="F1F5F9"/>
                    </a:solidFill>
                  </a:tcPr>
                </a:tc>
                <a:tc>
                  <a:txBody>
                    <a:bodyPr/>
                    <a:lstStyle/>
                    <a:p>
                      <a:pPr>
                        <a:defRPr sz="1100" b="0">
                          <a:solidFill>
                            <a:srgbClr val="1E293B"/>
                          </a:solidFill>
                          <a:latin typeface="맑은 고딕"/>
                        </a:defRPr>
                      </a:pPr>
                      <a:r>
                        <a:t>100.00</a:t>
                      </a:r>
                    </a:p>
                  </a:txBody>
                  <a:tcPr>
                    <a:solidFill>
                      <a:srgbClr val="F1F5F9"/>
                    </a:solidFill>
                  </a:tcPr>
                </a:tc>
                <a:tc>
                  <a:txBody>
                    <a:bodyPr/>
                    <a:lstStyle/>
                    <a:p>
                      <a:pPr>
                        <a:defRPr sz="1100" b="0">
                          <a:solidFill>
                            <a:srgbClr val="1E293B"/>
                          </a:solidFill>
                          <a:latin typeface="맑은 고딕"/>
                        </a:defRPr>
                      </a:pPr>
                      <a:r>
                        <a:t>25.0%</a:t>
                      </a:r>
                    </a:p>
                  </a:txBody>
                  <a:tcPr>
                    <a:solidFill>
                      <a:srgbClr val="F1F5F9"/>
                    </a:solidFill>
                  </a:tcPr>
                </a:tc>
                <a:tc>
                  <a:txBody>
                    <a:bodyPr/>
                    <a:lstStyle/>
                    <a:p>
                      <a:pPr>
                        <a:defRPr sz="1100" b="0">
                          <a:solidFill>
                            <a:srgbClr val="1E293B"/>
                          </a:solidFill>
                          <a:latin typeface="맑은 고딕"/>
                        </a:defRPr>
                      </a:pPr>
                      <a:r>
                        <a:t>A 즉시발행</a:t>
                      </a:r>
                    </a:p>
                  </a:txBody>
                  <a:tcPr>
                    <a:solidFill>
                      <a:srgbClr val="F1F5F9"/>
                    </a:solidFill>
                  </a:tcPr>
                </a:tc>
                <a:tc>
                  <a:txBody>
                    <a:bodyPr/>
                    <a:lstStyle/>
                    <a:p>
                      <a:pPr>
                        <a:defRPr sz="1100" b="0">
                          <a:solidFill>
                            <a:srgbClr val="1E293B"/>
                          </a:solidFill>
                          <a:latin typeface="맑은 고딕"/>
                        </a:defRPr>
                      </a:pPr>
                      <a:r>
                        <a:t>마진과 동일 (경계값)</a:t>
                      </a:r>
                    </a:p>
                  </a:txBody>
                  <a:tcPr>
                    <a:solidFill>
                      <a:srgbClr val="F1F5F9"/>
                    </a:solidFill>
                  </a:tcPr>
                </a:tc>
              </a:tr>
            </a:tbl>
          </a:graphicData>
        </a:graphic>
      </p:graphicFrame>
      <p:sp>
        <p:nvSpPr>
          <p:cNvPr id="8" name="TextBox 7"/>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Session 4 · 자가검사 PBL</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검사기준을 화면의 '자가검사' 버튼으로 만듭니다</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서버도 설치도 필요 없습니다. 내 MVP 안에서 합격·불합격을 바로 확인합니다</a:t>
            </a:r>
          </a:p>
        </p:txBody>
      </p:sp>
      <p:sp>
        <p:nvSpPr>
          <p:cNvPr id="7" name="Rounded Rectangle 6"/>
          <p:cNvSpPr/>
          <p:nvPr/>
        </p:nvSpPr>
        <p:spPr>
          <a:xfrm>
            <a:off x="548640" y="1371600"/>
            <a:ext cx="411480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54480"/>
            <a:ext cx="3749039" cy="4480560"/>
          </a:xfrm>
          <a:prstGeom prst="rect">
            <a:avLst/>
          </a:prstGeom>
          <a:noFill/>
        </p:spPr>
        <p:txBody>
          <a:bodyPr wrap="square">
            <a:spAutoFit/>
          </a:bodyPr>
          <a:lstStyle/>
          <a:p>
            <a:pPr>
              <a:defRPr sz="1500" b="1">
                <a:solidFill>
                  <a:srgbClr val="2563EB"/>
                </a:solidFill>
                <a:latin typeface="맑은 고딕"/>
              </a:defRPr>
            </a:pPr>
            <a:r>
              <a:t>초도품 검사 합격 조건</a:t>
            </a:r>
          </a:p>
          <a:p>
            <a:pPr>
              <a:spcBef>
                <a:spcPts val="800"/>
              </a:spcBef>
              <a:defRPr sz="1200">
                <a:solidFill>
                  <a:srgbClr val="1E293B"/>
                </a:solidFill>
                <a:latin typeface="맑은 고딕"/>
              </a:defRPr>
            </a:pPr>
            <a:r>
              <a:t>✔ 버튼 한 번으로 모든 사례가 실행됨</a:t>
            </a:r>
          </a:p>
          <a:p>
            <a:pPr>
              <a:spcBef>
                <a:spcPts val="800"/>
              </a:spcBef>
              <a:defRPr sz="1200">
                <a:solidFill>
                  <a:srgbClr val="1E293B"/>
                </a:solidFill>
                <a:latin typeface="맑은 고딕"/>
              </a:defRPr>
            </a:pPr>
            <a:r>
              <a:t>✔ 사례별 기대값·실제값·합불이 표로 표시됨</a:t>
            </a:r>
          </a:p>
          <a:p>
            <a:pPr>
              <a:spcBef>
                <a:spcPts val="800"/>
              </a:spcBef>
              <a:defRPr sz="1200">
                <a:solidFill>
                  <a:srgbClr val="1E293B"/>
                </a:solidFill>
                <a:latin typeface="맑은 고딕"/>
              </a:defRPr>
            </a:pPr>
            <a:r>
              <a:t>✔ 일부러 기대값을 틀리게 바꾸면 불합격이 뜸</a:t>
            </a:r>
          </a:p>
          <a:p>
            <a:pPr>
              <a:spcBef>
                <a:spcPts val="800"/>
              </a:spcBef>
              <a:defRPr sz="1200">
                <a:solidFill>
                  <a:srgbClr val="1E293B"/>
                </a:solidFill>
                <a:latin typeface="맑은 고딕"/>
              </a:defRPr>
            </a:pPr>
            <a:r>
              <a:t>✔ 실제 판정 함수를 호출하고, 정답을 복사해 넣지 않음</a:t>
            </a:r>
          </a:p>
          <a:p>
            <a:pPr>
              <a:spcBef>
                <a:spcPts val="800"/>
              </a:spcBef>
              <a:defRPr sz="1200">
                <a:solidFill>
                  <a:srgbClr val="1E293B"/>
                </a:solidFill>
                <a:latin typeface="맑은 고딕"/>
              </a:defRPr>
            </a:pPr>
            <a:r>
              <a:t>✔ 불합격이 있으면 AI가 기대값을 고쳐 통과시키지 않음</a:t>
            </a:r>
          </a:p>
        </p:txBody>
      </p:sp>
      <p:sp>
        <p:nvSpPr>
          <p:cNvPr id="9" name="Rounded Rectangle 8"/>
          <p:cNvSpPr/>
          <p:nvPr/>
        </p:nvSpPr>
        <p:spPr>
          <a:xfrm>
            <a:off x="4892040" y="1371600"/>
            <a:ext cx="6720840" cy="48463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08760"/>
            <a:ext cx="6355080" cy="4572000"/>
          </a:xfrm>
          <a:prstGeom prst="rect">
            <a:avLst/>
          </a:prstGeom>
          <a:noFill/>
        </p:spPr>
        <p:txBody>
          <a:bodyPr wrap="square">
            <a:spAutoFit/>
          </a:bodyPr>
          <a:lstStyle/>
          <a:p>
            <a:pPr>
              <a:defRPr sz="1250" b="1">
                <a:solidFill>
                  <a:srgbClr val="60A5FA"/>
                </a:solidFill>
                <a:latin typeface="맑은 고딕"/>
              </a:defRPr>
            </a:pPr>
            <a:r>
              <a:t>실습 ② 자가검사 구현 프롬프트</a:t>
            </a:r>
          </a:p>
          <a:p>
            <a:pPr>
              <a:spcBef>
                <a:spcPts val="300"/>
              </a:spcBef>
              <a:defRPr sz="1100">
                <a:solidFill>
                  <a:srgbClr val="F1F5F9"/>
                </a:solidFill>
                <a:latin typeface="맑은 고딕"/>
              </a:defRPr>
            </a:pPr>
            <a:r>
              <a:t>@docs/검사기준.md 의 사례를 자동 점검하는 기능을 추가해 주세요.</a:t>
            </a:r>
          </a:p>
          <a:p>
            <a:pPr>
              <a:spcBef>
                <a:spcPts val="300"/>
              </a:spcBef>
              <a:defRPr sz="1100">
                <a:solidFill>
                  <a:srgbClr val="F1F5F9"/>
                </a:solidFill>
                <a:latin typeface="맑은 고딕"/>
              </a:defRPr>
            </a:pPr>
          </a:p>
          <a:p>
            <a:pPr>
              <a:spcBef>
                <a:spcPts val="300"/>
              </a:spcBef>
              <a:defRPr sz="1100">
                <a:solidFill>
                  <a:srgbClr val="F1F5F9"/>
                </a:solidFill>
                <a:latin typeface="맑은 고딕"/>
              </a:defRPr>
            </a:pPr>
            <a:r>
              <a:t>[요구사항]</a:t>
            </a:r>
          </a:p>
          <a:p>
            <a:pPr>
              <a:spcBef>
                <a:spcPts val="300"/>
              </a:spcBef>
              <a:defRPr sz="1100">
                <a:solidFill>
                  <a:srgbClr val="F1F5F9"/>
                </a:solidFill>
                <a:latin typeface="맑은 고딕"/>
              </a:defRPr>
            </a:pPr>
            <a:r>
              <a:t>1. 화면 하단에 '자가검사' 버튼을 둡니다.</a:t>
            </a:r>
          </a:p>
          <a:p>
            <a:pPr>
              <a:spcBef>
                <a:spcPts val="300"/>
              </a:spcBef>
              <a:defRPr sz="1100">
                <a:solidFill>
                  <a:srgbClr val="F1F5F9"/>
                </a:solidFill>
                <a:latin typeface="맑은 고딕"/>
              </a:defRPr>
            </a:pPr>
            <a:r>
              <a:t>2. 판정 계산을 하나의 함수로 분리하고, 화면과 자가검사가</a:t>
            </a:r>
          </a:p>
          <a:p>
            <a:pPr>
              <a:spcBef>
                <a:spcPts val="300"/>
              </a:spcBef>
              <a:defRPr sz="1100">
                <a:solidFill>
                  <a:srgbClr val="F1F5F9"/>
                </a:solidFill>
                <a:latin typeface="맑은 고딕"/>
              </a:defRPr>
            </a:pPr>
            <a:r>
              <a:t>   모두 같은 함수를 사용하게 합니다.</a:t>
            </a:r>
          </a:p>
          <a:p>
            <a:pPr>
              <a:spcBef>
                <a:spcPts val="300"/>
              </a:spcBef>
              <a:defRPr sz="1100">
                <a:solidFill>
                  <a:srgbClr val="F1F5F9"/>
                </a:solidFill>
                <a:latin typeface="맑은 고딕"/>
              </a:defRPr>
            </a:pPr>
            <a:r>
              <a:t>3. 사례별 기대값, 실제값, 합격 여부를 표로 보여 줍니다.</a:t>
            </a:r>
          </a:p>
          <a:p>
            <a:pPr>
              <a:spcBef>
                <a:spcPts val="300"/>
              </a:spcBef>
              <a:defRPr sz="1100">
                <a:solidFill>
                  <a:srgbClr val="F1F5F9"/>
                </a:solidFill>
                <a:latin typeface="맑은 고딕"/>
              </a:defRPr>
            </a:pPr>
          </a:p>
          <a:p>
            <a:pPr>
              <a:spcBef>
                <a:spcPts val="300"/>
              </a:spcBef>
              <a:defRPr sz="1100">
                <a:solidFill>
                  <a:srgbClr val="F1F5F9"/>
                </a:solidFill>
                <a:latin typeface="맑은 고딕"/>
              </a:defRPr>
            </a:pPr>
            <a:r>
              <a:t>[금지사항]</a:t>
            </a:r>
          </a:p>
          <a:p>
            <a:pPr>
              <a:spcBef>
                <a:spcPts val="300"/>
              </a:spcBef>
              <a:defRPr sz="1100">
                <a:solidFill>
                  <a:srgbClr val="F1F5F9"/>
                </a:solidFill>
                <a:latin typeface="맑은 고딕"/>
              </a:defRPr>
            </a:pPr>
            <a:r>
              <a:t>- 검사기준의 기대값을 수정하지 마세요.</a:t>
            </a:r>
          </a:p>
          <a:p>
            <a:pPr>
              <a:spcBef>
                <a:spcPts val="300"/>
              </a:spcBef>
              <a:defRPr sz="1100">
                <a:solidFill>
                  <a:srgbClr val="F1F5F9"/>
                </a:solidFill>
                <a:latin typeface="맑은 고딕"/>
              </a:defRPr>
            </a:pPr>
            <a:r>
              <a:t>- 불합격이 나면 원인과 수정안을 먼저 설명하고 승인을 받으세요.</a:t>
            </a:r>
          </a:p>
          <a:p>
            <a:pPr>
              <a:spcBef>
                <a:spcPts val="300"/>
              </a:spcBef>
              <a:defRPr sz="1100">
                <a:solidFill>
                  <a:srgbClr val="F1F5F9"/>
                </a:solidFill>
                <a:latin typeface="맑은 고딕"/>
              </a:defRPr>
            </a:pPr>
            <a:r>
              <a:t>- 기존 CSV 업로드와 차트 기능은 변경하지 마세요.</a:t>
            </a:r>
          </a:p>
        </p:txBody>
      </p:sp>
      <p:sp>
        <p:nvSpPr>
          <p:cNvPr id="11" name="TextBox 10"/>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Session 5 · 변경점 관리</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규칙이 바뀌면 순서가 곧 품질입니다</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공장의 설계 변경처럼, 코드부터 고치지 않습니다</a:t>
            </a:r>
          </a:p>
        </p:txBody>
      </p:sp>
      <p:sp>
        <p:nvSpPr>
          <p:cNvPr id="7" name="Rounded Rectangle 6"/>
          <p:cNvSpPr/>
          <p:nvPr/>
        </p:nvSpPr>
        <p:spPr>
          <a:xfrm>
            <a:off x="548640" y="1371600"/>
            <a:ext cx="5394959" cy="4434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36192"/>
            <a:ext cx="4992623" cy="4142231"/>
          </a:xfrm>
          <a:prstGeom prst="rect">
            <a:avLst/>
          </a:prstGeom>
          <a:noFill/>
        </p:spPr>
        <p:txBody>
          <a:bodyPr wrap="square">
            <a:spAutoFit/>
          </a:bodyPr>
          <a:lstStyle/>
          <a:p>
            <a:pPr>
              <a:defRPr sz="1500" b="1">
                <a:solidFill>
                  <a:srgbClr val="2563EB"/>
                </a:solidFill>
                <a:latin typeface="맑은 고딕"/>
              </a:defRPr>
            </a:pPr>
            <a:r>
              <a:t>변경 처리 순서</a:t>
            </a:r>
          </a:p>
          <a:p>
            <a:pPr>
              <a:spcBef>
                <a:spcPts val="600"/>
              </a:spcBef>
              <a:defRPr sz="1200">
                <a:solidFill>
                  <a:srgbClr val="1E293B"/>
                </a:solidFill>
                <a:latin typeface="맑은 고딕"/>
              </a:defRPr>
            </a:pPr>
            <a:r>
              <a:t>• ① 요구도면: 규칙과 버전을 먼저 수정</a:t>
            </a:r>
          </a:p>
          <a:p>
            <a:pPr>
              <a:spcBef>
                <a:spcPts val="600"/>
              </a:spcBef>
              <a:defRPr sz="1200">
                <a:solidFill>
                  <a:srgbClr val="1E293B"/>
                </a:solidFill>
                <a:latin typeface="맑은 고딕"/>
              </a:defRPr>
            </a:pPr>
            <a:r>
              <a:t>• ② 검사기준: 새 기준의 정답값을 추가·수정</a:t>
            </a:r>
          </a:p>
          <a:p>
            <a:pPr>
              <a:spcBef>
                <a:spcPts val="600"/>
              </a:spcBef>
              <a:defRPr sz="1200">
                <a:solidFill>
                  <a:srgbClr val="1E293B"/>
                </a:solidFill>
                <a:latin typeface="맑은 고딕"/>
              </a:defRPr>
            </a:pPr>
            <a:r>
              <a:t>• ③ 코드: AI에게 최소 범위 수정 지시</a:t>
            </a:r>
          </a:p>
          <a:p>
            <a:pPr>
              <a:spcBef>
                <a:spcPts val="600"/>
              </a:spcBef>
              <a:defRPr sz="1200">
                <a:solidFill>
                  <a:srgbClr val="1E293B"/>
                </a:solidFill>
                <a:latin typeface="맑은 고딕"/>
              </a:defRPr>
            </a:pPr>
            <a:r>
              <a:t>• ④ 자가검사: 일부가 아닌 전체 사례 재실행</a:t>
            </a:r>
          </a:p>
          <a:p>
            <a:pPr>
              <a:spcBef>
                <a:spcPts val="600"/>
              </a:spcBef>
              <a:defRPr sz="1200">
                <a:solidFill>
                  <a:srgbClr val="1E293B"/>
                </a:solidFill>
                <a:latin typeface="맑은 고딕"/>
              </a:defRPr>
            </a:pPr>
            <a:r>
              <a:t>• ⑤ 변경이력: 사유, 전후 값, 재검사 결과 기록</a:t>
            </a:r>
          </a:p>
        </p:txBody>
      </p:sp>
      <p:sp>
        <p:nvSpPr>
          <p:cNvPr id="9" name="Rounded Rectangle 8"/>
          <p:cNvSpPr/>
          <p:nvPr/>
        </p:nvSpPr>
        <p:spPr>
          <a:xfrm>
            <a:off x="6217919" y="1371600"/>
            <a:ext cx="5394959" cy="4434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7" y="1536192"/>
            <a:ext cx="4992623" cy="4142231"/>
          </a:xfrm>
          <a:prstGeom prst="rect">
            <a:avLst/>
          </a:prstGeom>
          <a:noFill/>
        </p:spPr>
        <p:txBody>
          <a:bodyPr wrap="square">
            <a:spAutoFit/>
          </a:bodyPr>
          <a:lstStyle/>
          <a:p>
            <a:pPr>
              <a:defRPr sz="1500" b="1">
                <a:solidFill>
                  <a:srgbClr val="2563EB"/>
                </a:solidFill>
                <a:latin typeface="맑은 고딕"/>
              </a:defRPr>
            </a:pPr>
            <a:r>
              <a:t>무엇을 변경점으로 볼 것인가</a:t>
            </a:r>
          </a:p>
          <a:p>
            <a:pPr>
              <a:spcBef>
                <a:spcPts val="600"/>
              </a:spcBef>
              <a:defRPr sz="1200">
                <a:solidFill>
                  <a:srgbClr val="1E293B"/>
                </a:solidFill>
                <a:latin typeface="맑은 고딕"/>
              </a:defRPr>
            </a:pPr>
            <a:r>
              <a:t>• 규정: 할인 한도, 승인 기준, 환율 적용 기준</a:t>
            </a:r>
          </a:p>
          <a:p>
            <a:pPr>
              <a:spcBef>
                <a:spcPts val="600"/>
              </a:spcBef>
              <a:defRPr sz="1200">
                <a:solidFill>
                  <a:srgbClr val="1E293B"/>
                </a:solidFill>
                <a:latin typeface="맑은 고딕"/>
              </a:defRPr>
            </a:pPr>
            <a:r>
              <a:t>• 데이터: 컬럼 추가, 품목코드 체계, 단위 변경</a:t>
            </a:r>
          </a:p>
          <a:p>
            <a:pPr>
              <a:spcBef>
                <a:spcPts val="600"/>
              </a:spcBef>
              <a:defRPr sz="1200">
                <a:solidFill>
                  <a:srgbClr val="1E293B"/>
                </a:solidFill>
                <a:latin typeface="맑은 고딕"/>
              </a:defRPr>
            </a:pPr>
            <a:r>
              <a:t>• 사람: 규칙 소유 부서, 승인권자 변경</a:t>
            </a:r>
          </a:p>
          <a:p>
            <a:pPr>
              <a:spcBef>
                <a:spcPts val="600"/>
              </a:spcBef>
              <a:defRPr sz="1200">
                <a:solidFill>
                  <a:srgbClr val="1E293B"/>
                </a:solidFill>
                <a:latin typeface="맑은 고딕"/>
              </a:defRPr>
            </a:pPr>
            <a:r>
              <a:t>• 도구: 사용하는 라이브러리, 실행 PC 환경 변경</a:t>
            </a:r>
          </a:p>
        </p:txBody>
      </p:sp>
      <p:sp>
        <p:nvSpPr>
          <p:cNvPr id="11" name="Rounded Rectangle 10"/>
          <p:cNvSpPr/>
          <p:nvPr/>
        </p:nvSpPr>
        <p:spPr>
          <a:xfrm>
            <a:off x="548640" y="5925312"/>
            <a:ext cx="11064240" cy="438912"/>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0F172A"/>
                </a:solidFill>
                <a:latin typeface="맑은 고딕"/>
              </a:defRPr>
            </a:pPr>
            <a:r>
              <a:t>💡 핵심 포인트: 코드만 고치면 다음 AI 세션은 옛 도면을 믿고 일합니다. 문서가 먼저 바뀌어야 다음 변경도 안전합니다.</a:t>
            </a:r>
          </a:p>
        </p:txBody>
      </p:sp>
      <p:sp>
        <p:nvSpPr>
          <p:cNvPr id="12" name="TextBox 11"/>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Session 5 · 변경 실습</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[변경 통보] PLC-900M 최소승인마진을 24%에서 26%로 상향</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교육용 가상 통보입니다. 같은 입력의 판정이 바뀌는지 재검사로 확인합니다</a:t>
            </a:r>
          </a:p>
        </p:txBody>
      </p:sp>
      <p:sp>
        <p:nvSpPr>
          <p:cNvPr id="7" name="Rounded Rectangle 6"/>
          <p:cNvSpPr/>
          <p:nvPr/>
        </p:nvSpPr>
        <p:spPr>
          <a:xfrm>
            <a:off x="548640" y="1371600"/>
            <a:ext cx="411480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54480"/>
            <a:ext cx="3749039" cy="4480560"/>
          </a:xfrm>
          <a:prstGeom prst="rect">
            <a:avLst/>
          </a:prstGeom>
          <a:noFill/>
        </p:spPr>
        <p:txBody>
          <a:bodyPr wrap="square">
            <a:spAutoFit/>
          </a:bodyPr>
          <a:lstStyle/>
          <a:p>
            <a:pPr>
              <a:defRPr sz="1500" b="1">
                <a:solidFill>
                  <a:srgbClr val="2563EB"/>
                </a:solidFill>
                <a:latin typeface="맑은 고딕"/>
              </a:defRPr>
            </a:pPr>
            <a:r>
              <a:t>변경 전후 기대 결과</a:t>
            </a:r>
          </a:p>
          <a:p>
            <a:pPr>
              <a:spcBef>
                <a:spcPts val="800"/>
              </a:spcBef>
              <a:defRPr sz="1200">
                <a:solidFill>
                  <a:srgbClr val="1E293B"/>
                </a:solidFill>
                <a:latin typeface="맑은 고딕"/>
              </a:defRPr>
            </a:pPr>
            <a:r>
              <a:t>✔ 할인 12%: 마진 26.1%, 전후 모두 A 즉시발행</a:t>
            </a:r>
          </a:p>
          <a:p>
            <a:pPr>
              <a:spcBef>
                <a:spcPts val="800"/>
              </a:spcBef>
              <a:defRPr sz="1200">
                <a:solidFill>
                  <a:srgbClr val="1E293B"/>
                </a:solidFill>
                <a:latin typeface="맑은 고딕"/>
              </a:defRPr>
            </a:pPr>
            <a:r>
              <a:t>✔ 할인 13%: 마진 25.3%, B 팀장 확인 → D 승인+사유</a:t>
            </a:r>
          </a:p>
          <a:p>
            <a:pPr>
              <a:spcBef>
                <a:spcPts val="800"/>
              </a:spcBef>
              <a:defRPr sz="1200">
                <a:solidFill>
                  <a:srgbClr val="1E293B"/>
                </a:solidFill>
                <a:latin typeface="맑은 고딕"/>
              </a:defRPr>
            </a:pPr>
            <a:r>
              <a:t>✔ 할인 15%: 마진 23.5%, 전후 모두 D 승인+사유</a:t>
            </a:r>
          </a:p>
          <a:p>
            <a:pPr>
              <a:spcBef>
                <a:spcPts val="800"/>
              </a:spcBef>
              <a:defRPr sz="1200">
                <a:solidFill>
                  <a:srgbClr val="1E293B"/>
                </a:solidFill>
                <a:latin typeface="맑은 고딕"/>
              </a:defRPr>
            </a:pPr>
            <a:r>
              <a:t>✔ 다른 품목의 판정은 하나도 바뀌지 않아야 함</a:t>
            </a:r>
          </a:p>
          <a:p>
            <a:pPr>
              <a:spcBef>
                <a:spcPts val="800"/>
              </a:spcBef>
              <a:defRPr sz="1200">
                <a:solidFill>
                  <a:srgbClr val="1E293B"/>
                </a:solidFill>
                <a:latin typeface="맑은 고딕"/>
              </a:defRPr>
            </a:pPr>
            <a:r>
              <a:t>✔ 기존 사례 No 4의 기대값은 그대로 유지</a:t>
            </a:r>
          </a:p>
        </p:txBody>
      </p:sp>
      <p:sp>
        <p:nvSpPr>
          <p:cNvPr id="9" name="Rounded Rectangle 8"/>
          <p:cNvSpPr/>
          <p:nvPr/>
        </p:nvSpPr>
        <p:spPr>
          <a:xfrm>
            <a:off x="4892040" y="1371600"/>
            <a:ext cx="6720840" cy="48463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08760"/>
            <a:ext cx="6355080" cy="4572000"/>
          </a:xfrm>
          <a:prstGeom prst="rect">
            <a:avLst/>
          </a:prstGeom>
          <a:noFill/>
        </p:spPr>
        <p:txBody>
          <a:bodyPr wrap="square">
            <a:spAutoFit/>
          </a:bodyPr>
          <a:lstStyle/>
          <a:p>
            <a:pPr>
              <a:defRPr sz="1250" b="1">
                <a:solidFill>
                  <a:srgbClr val="60A5FA"/>
                </a:solidFill>
                <a:latin typeface="맑은 고딕"/>
              </a:defRPr>
            </a:pPr>
            <a:r>
              <a:t>실습 ③ 변경 지시 프롬프트</a:t>
            </a:r>
          </a:p>
          <a:p>
            <a:pPr>
              <a:spcBef>
                <a:spcPts val="300"/>
              </a:spcBef>
              <a:defRPr sz="1100">
                <a:solidFill>
                  <a:srgbClr val="F1F5F9"/>
                </a:solidFill>
                <a:latin typeface="맑은 고딕"/>
              </a:defRPr>
            </a:pPr>
            <a:r>
              <a:t>변경 통보: PLC-900M 최소승인마진 24% → 26% (사유: 규정 개정)</a:t>
            </a:r>
          </a:p>
          <a:p>
            <a:pPr>
              <a:spcBef>
                <a:spcPts val="300"/>
              </a:spcBef>
              <a:defRPr sz="1100">
                <a:solidFill>
                  <a:srgbClr val="F1F5F9"/>
                </a:solidFill>
                <a:latin typeface="맑은 고딕"/>
              </a:defRPr>
            </a:pPr>
          </a:p>
          <a:p>
            <a:pPr>
              <a:spcBef>
                <a:spcPts val="300"/>
              </a:spcBef>
              <a:defRPr sz="1100">
                <a:solidFill>
                  <a:srgbClr val="F1F5F9"/>
                </a:solidFill>
                <a:latin typeface="맑은 고딕"/>
              </a:defRPr>
            </a:pPr>
            <a:r>
              <a:t>다음 순서로 진행하고 단계마다 결과를 보여 주세요.</a:t>
            </a:r>
          </a:p>
          <a:p>
            <a:pPr>
              <a:spcBef>
                <a:spcPts val="300"/>
              </a:spcBef>
              <a:defRPr sz="1100">
                <a:solidFill>
                  <a:srgbClr val="F1F5F9"/>
                </a:solidFill>
                <a:latin typeface="맑은 고딕"/>
              </a:defRPr>
            </a:pPr>
            <a:r>
              <a:t>1. docs/요구도면.md 의 버전을 올리고 변경 내용을 반영</a:t>
            </a:r>
          </a:p>
          <a:p>
            <a:pPr>
              <a:spcBef>
                <a:spcPts val="300"/>
              </a:spcBef>
              <a:defRPr sz="1100">
                <a:solidFill>
                  <a:srgbClr val="F1F5F9"/>
                </a:solidFill>
                <a:latin typeface="맑은 고딕"/>
              </a:defRPr>
            </a:pPr>
            <a:r>
              <a:t>2. docs/검사기준.md 에 PLC-900M 할인 12%, 13% 사례를 추가</a:t>
            </a:r>
          </a:p>
          <a:p>
            <a:pPr>
              <a:spcBef>
                <a:spcPts val="300"/>
              </a:spcBef>
              <a:defRPr sz="1100">
                <a:solidFill>
                  <a:srgbClr val="F1F5F9"/>
                </a:solidFill>
                <a:latin typeface="맑은 고딕"/>
              </a:defRPr>
            </a:pPr>
            <a:r>
              <a:t>3. 샘플 데이터의 해당 값만 수정 (다른 품목은 변경 금지)</a:t>
            </a:r>
          </a:p>
          <a:p>
            <a:pPr>
              <a:spcBef>
                <a:spcPts val="300"/>
              </a:spcBef>
              <a:defRPr sz="1100">
                <a:solidFill>
                  <a:srgbClr val="F1F5F9"/>
                </a:solidFill>
                <a:latin typeface="맑은 고딕"/>
              </a:defRPr>
            </a:pPr>
            <a:r>
              <a:t>4. 자가검사 전체 실행</a:t>
            </a:r>
          </a:p>
          <a:p>
            <a:pPr>
              <a:spcBef>
                <a:spcPts val="300"/>
              </a:spcBef>
              <a:defRPr sz="1100">
                <a:solidFill>
                  <a:srgbClr val="F1F5F9"/>
                </a:solidFill>
                <a:latin typeface="맑은 고딕"/>
              </a:defRPr>
            </a:pPr>
            <a:r>
              <a:t>5. docs/변경이력.md 에 사유, 전후 값, 재검사 결과를 기록</a:t>
            </a:r>
          </a:p>
          <a:p>
            <a:pPr>
              <a:spcBef>
                <a:spcPts val="300"/>
              </a:spcBef>
              <a:defRPr sz="1100">
                <a:solidFill>
                  <a:srgbClr val="F1F5F9"/>
                </a:solidFill>
                <a:latin typeface="맑은 고딕"/>
              </a:defRPr>
            </a:pPr>
          </a:p>
          <a:p>
            <a:pPr>
              <a:spcBef>
                <a:spcPts val="300"/>
              </a:spcBef>
              <a:defRPr sz="1100">
                <a:solidFill>
                  <a:srgbClr val="F1F5F9"/>
                </a:solidFill>
                <a:latin typeface="맑은 고딕"/>
              </a:defRPr>
            </a:pPr>
            <a:r>
              <a:t>검사 기대값을 맞추기 위해 판정 로직을 임의로 바꾸지 마세요.</a:t>
            </a:r>
          </a:p>
        </p:txBody>
      </p:sp>
      <p:sp>
        <p:nvSpPr>
          <p:cNvPr id="11" name="TextBox 10"/>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Session 5 · 안전망</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AI가 잘못 갔을 때 되돌리는 네 가지 방법</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수정을 거듭할수록 나빠진다면, 세 번째 수정 지시 대신 되돌립니다</a:t>
            </a:r>
          </a:p>
        </p:txBody>
      </p:sp>
      <p:graphicFrame>
        <p:nvGraphicFramePr>
          <p:cNvPr id="7" name="Table 6"/>
          <p:cNvGraphicFramePr>
            <a:graphicFrameLocks noGrp="1"/>
          </p:cNvGraphicFramePr>
          <p:nvPr/>
        </p:nvGraphicFramePr>
        <p:xfrm>
          <a:off x="548640" y="1417320"/>
          <a:ext cx="11064240" cy="4663440"/>
        </p:xfrm>
        <a:graphic>
          <a:graphicData uri="http://schemas.openxmlformats.org/drawingml/2006/table">
            <a:tbl>
              <a:tblPr firstRow="1" bandRow="1">
                <a:tableStyleId>{5C22544A-7EE6-4342-B048-85BDC9FD1C3A}</a:tableStyleId>
              </a:tblPr>
              <a:tblGrid>
                <a:gridCol w="2766060"/>
                <a:gridCol w="2766060"/>
                <a:gridCol w="2766060"/>
                <a:gridCol w="2766060"/>
              </a:tblGrid>
              <a:tr h="932688">
                <a:tc>
                  <a:txBody>
                    <a:bodyPr/>
                    <a:lstStyle/>
                    <a:p>
                      <a:pPr>
                        <a:defRPr sz="1150" b="1">
                          <a:solidFill>
                            <a:srgbClr val="FFFFFF"/>
                          </a:solidFill>
                          <a:latin typeface="맑은 고딕"/>
                        </a:defRPr>
                      </a:pPr>
                      <a:r>
                        <a:t>상황</a:t>
                      </a:r>
                    </a:p>
                  </a:txBody>
                  <a:tcPr>
                    <a:solidFill>
                      <a:srgbClr val="0F172A"/>
                    </a:solidFill>
                  </a:tcPr>
                </a:tc>
                <a:tc>
                  <a:txBody>
                    <a:bodyPr/>
                    <a:lstStyle/>
                    <a:p>
                      <a:pPr>
                        <a:defRPr sz="1150" b="1">
                          <a:solidFill>
                            <a:srgbClr val="FFFFFF"/>
                          </a:solidFill>
                          <a:latin typeface="맑은 고딕"/>
                        </a:defRPr>
                      </a:pPr>
                      <a:r>
                        <a:t>수단</a:t>
                      </a:r>
                    </a:p>
                  </a:txBody>
                  <a:tcPr>
                    <a:solidFill>
                      <a:srgbClr val="0F172A"/>
                    </a:solidFill>
                  </a:tcPr>
                </a:tc>
                <a:tc>
                  <a:txBody>
                    <a:bodyPr/>
                    <a:lstStyle/>
                    <a:p>
                      <a:pPr>
                        <a:defRPr sz="1150" b="1">
                          <a:solidFill>
                            <a:srgbClr val="FFFFFF"/>
                          </a:solidFill>
                          <a:latin typeface="맑은 고딕"/>
                        </a:defRPr>
                      </a:pPr>
                      <a:r>
                        <a:t>동작</a:t>
                      </a:r>
                    </a:p>
                  </a:txBody>
                  <a:tcPr>
                    <a:solidFill>
                      <a:srgbClr val="0F172A"/>
                    </a:solidFill>
                  </a:tcPr>
                </a:tc>
                <a:tc>
                  <a:txBody>
                    <a:bodyPr/>
                    <a:lstStyle/>
                    <a:p>
                      <a:pPr>
                        <a:defRPr sz="1150" b="1">
                          <a:solidFill>
                            <a:srgbClr val="FFFFFF"/>
                          </a:solidFill>
                          <a:latin typeface="맑은 고딕"/>
                        </a:defRPr>
                      </a:pPr>
                      <a:r>
                        <a:t>알아둘 한계</a:t>
                      </a:r>
                    </a:p>
                  </a:txBody>
                  <a:tcPr>
                    <a:solidFill>
                      <a:srgbClr val="0F172A"/>
                    </a:solidFill>
                  </a:tcPr>
                </a:tc>
              </a:tr>
              <a:tr h="932688">
                <a:tc>
                  <a:txBody>
                    <a:bodyPr/>
                    <a:lstStyle/>
                    <a:p>
                      <a:pPr>
                        <a:defRPr sz="1100" b="1">
                          <a:solidFill>
                            <a:srgbClr val="1E293B"/>
                          </a:solidFill>
                          <a:latin typeface="맑은 고딕"/>
                        </a:defRPr>
                      </a:pPr>
                      <a:r>
                        <a:t>AI가 방향을 벗어나기 시작</a:t>
                      </a:r>
                    </a:p>
                  </a:txBody>
                  <a:tcPr>
                    <a:solidFill>
                      <a:srgbClr val="FFFFFF"/>
                    </a:solidFill>
                  </a:tcPr>
                </a:tc>
                <a:tc>
                  <a:txBody>
                    <a:bodyPr/>
                    <a:lstStyle/>
                    <a:p>
                      <a:pPr>
                        <a:defRPr sz="1100" b="0">
                          <a:solidFill>
                            <a:srgbClr val="1E293B"/>
                          </a:solidFill>
                          <a:latin typeface="맑은 고딕"/>
                        </a:defRPr>
                      </a:pPr>
                      <a:r>
                        <a:t>Esc</a:t>
                      </a:r>
                    </a:p>
                  </a:txBody>
                  <a:tcPr>
                    <a:solidFill>
                      <a:srgbClr val="FFFFFF"/>
                    </a:solidFill>
                  </a:tcPr>
                </a:tc>
                <a:tc>
                  <a:txBody>
                    <a:bodyPr/>
                    <a:lstStyle/>
                    <a:p>
                      <a:pPr>
                        <a:defRPr sz="1100" b="0">
                          <a:solidFill>
                            <a:srgbClr val="1E293B"/>
                          </a:solidFill>
                          <a:latin typeface="맑은 고딕"/>
                        </a:defRPr>
                      </a:pPr>
                      <a:r>
                        <a:t>진행 중인 작업을 즉시 중단</a:t>
                      </a:r>
                    </a:p>
                  </a:txBody>
                  <a:tcPr>
                    <a:solidFill>
                      <a:srgbClr val="FFFFFF"/>
                    </a:solidFill>
                  </a:tcPr>
                </a:tc>
                <a:tc>
                  <a:txBody>
                    <a:bodyPr/>
                    <a:lstStyle/>
                    <a:p>
                      <a:pPr>
                        <a:defRPr sz="1100" b="0">
                          <a:solidFill>
                            <a:srgbClr val="1E293B"/>
                          </a:solidFill>
                          <a:latin typeface="맑은 고딕"/>
                        </a:defRPr>
                      </a:pPr>
                      <a:r>
                        <a:t>이미 수정한 내용은 그대로 남음</a:t>
                      </a:r>
                    </a:p>
                  </a:txBody>
                  <a:tcPr>
                    <a:solidFill>
                      <a:srgbClr val="FFFFFF"/>
                    </a:solidFill>
                  </a:tcPr>
                </a:tc>
              </a:tr>
              <a:tr h="932688">
                <a:tc>
                  <a:txBody>
                    <a:bodyPr/>
                    <a:lstStyle/>
                    <a:p>
                      <a:pPr>
                        <a:defRPr sz="1100" b="1">
                          <a:solidFill>
                            <a:srgbClr val="1E293B"/>
                          </a:solidFill>
                          <a:latin typeface="맑은 고딕"/>
                        </a:defRPr>
                      </a:pPr>
                      <a:r>
                        <a:t>방금 수정으로 기능이 망가짐</a:t>
                      </a:r>
                    </a:p>
                  </a:txBody>
                  <a:tcPr>
                    <a:solidFill>
                      <a:srgbClr val="F1F5F9"/>
                    </a:solidFill>
                  </a:tcPr>
                </a:tc>
                <a:tc>
                  <a:txBody>
                    <a:bodyPr/>
                    <a:lstStyle/>
                    <a:p>
                      <a:pPr>
                        <a:defRPr sz="1100" b="0">
                          <a:solidFill>
                            <a:srgbClr val="1E293B"/>
                          </a:solidFill>
                          <a:latin typeface="맑은 고딕"/>
                        </a:defRPr>
                      </a:pPr>
                      <a:r>
                        <a:t>/rewind (입력창이 빈 상태에서 Esc 두 번)</a:t>
                      </a:r>
                    </a:p>
                  </a:txBody>
                  <a:tcPr>
                    <a:solidFill>
                      <a:srgbClr val="F1F5F9"/>
                    </a:solidFill>
                  </a:tcPr>
                </a:tc>
                <a:tc>
                  <a:txBody>
                    <a:bodyPr/>
                    <a:lstStyle/>
                    <a:p>
                      <a:pPr>
                        <a:defRPr sz="1100" b="0">
                          <a:solidFill>
                            <a:srgbClr val="1E293B"/>
                          </a:solidFill>
                          <a:latin typeface="맑은 고딕"/>
                        </a:defRPr>
                      </a:pPr>
                      <a:r>
                        <a:t>이전 시점의 코드·대화로 복원</a:t>
                      </a:r>
                    </a:p>
                  </a:txBody>
                  <a:tcPr>
                    <a:solidFill>
                      <a:srgbClr val="F1F5F9"/>
                    </a:solidFill>
                  </a:tcPr>
                </a:tc>
                <a:tc>
                  <a:txBody>
                    <a:bodyPr/>
                    <a:lstStyle/>
                    <a:p>
                      <a:pPr>
                        <a:defRPr sz="1100" b="0">
                          <a:solidFill>
                            <a:srgbClr val="1E293B"/>
                          </a:solidFill>
                          <a:latin typeface="맑은 고딕"/>
                        </a:defRPr>
                      </a:pPr>
                      <a:r>
                        <a:t>AI 편집 도구로 고친 파일 중심. 영구 이력 관리 수단은 아님</a:t>
                      </a:r>
                    </a:p>
                  </a:txBody>
                  <a:tcPr>
                    <a:solidFill>
                      <a:srgbClr val="F1F5F9"/>
                    </a:solidFill>
                  </a:tcPr>
                </a:tc>
              </a:tr>
              <a:tr h="932688">
                <a:tc>
                  <a:txBody>
                    <a:bodyPr/>
                    <a:lstStyle/>
                    <a:p>
                      <a:pPr>
                        <a:defRPr sz="1100" b="1">
                          <a:solidFill>
                            <a:srgbClr val="1E293B"/>
                          </a:solidFill>
                          <a:latin typeface="맑은 고딕"/>
                        </a:defRPr>
                      </a:pPr>
                      <a:r>
                        <a:t>같은 수정을 두 번 해도 실패</a:t>
                      </a:r>
                    </a:p>
                  </a:txBody>
                  <a:tcPr>
                    <a:solidFill>
                      <a:srgbClr val="FFFFFF"/>
                    </a:solidFill>
                  </a:tcPr>
                </a:tc>
                <a:tc>
                  <a:txBody>
                    <a:bodyPr/>
                    <a:lstStyle/>
                    <a:p>
                      <a:pPr>
                        <a:defRPr sz="1100" b="0">
                          <a:solidFill>
                            <a:srgbClr val="1E293B"/>
                          </a:solidFill>
                          <a:latin typeface="맑은 고딕"/>
                        </a:defRPr>
                      </a:pPr>
                      <a:r>
                        <a:t>/clear 후 프롬프트 재작성</a:t>
                      </a:r>
                    </a:p>
                  </a:txBody>
                  <a:tcPr>
                    <a:solidFill>
                      <a:srgbClr val="FFFFFF"/>
                    </a:solidFill>
                  </a:tcPr>
                </a:tc>
                <a:tc>
                  <a:txBody>
                    <a:bodyPr/>
                    <a:lstStyle/>
                    <a:p>
                      <a:pPr>
                        <a:defRPr sz="1100" b="0">
                          <a:solidFill>
                            <a:srgbClr val="1E293B"/>
                          </a:solidFill>
                          <a:latin typeface="맑은 고딕"/>
                        </a:defRPr>
                      </a:pPr>
                      <a:r>
                        <a:t>대화 기록을 비우고 새로 시작</a:t>
                      </a:r>
                    </a:p>
                  </a:txBody>
                  <a:tcPr>
                    <a:solidFill>
                      <a:srgbClr val="FFFFFF"/>
                    </a:solidFill>
                  </a:tcPr>
                </a:tc>
                <a:tc>
                  <a:txBody>
                    <a:bodyPr/>
                    <a:lstStyle/>
                    <a:p>
                      <a:pPr>
                        <a:defRPr sz="1100" b="0">
                          <a:solidFill>
                            <a:srgbClr val="1E293B"/>
                          </a:solidFill>
                          <a:latin typeface="맑은 고딕"/>
                        </a:defRPr>
                      </a:pPr>
                      <a:r>
                        <a:t>규칙이 문서에 있어야 새 세션에서도 유지</a:t>
                      </a:r>
                    </a:p>
                  </a:txBody>
                  <a:tcPr>
                    <a:solidFill>
                      <a:srgbClr val="FFFFFF"/>
                    </a:solidFill>
                  </a:tcPr>
                </a:tc>
              </a:tr>
              <a:tr h="932688">
                <a:tc>
                  <a:txBody>
                    <a:bodyPr/>
                    <a:lstStyle/>
                    <a:p>
                      <a:pPr>
                        <a:defRPr sz="1100" b="1">
                          <a:solidFill>
                            <a:srgbClr val="1E293B"/>
                          </a:solidFill>
                          <a:latin typeface="맑은 고딕"/>
                        </a:defRPr>
                      </a:pPr>
                      <a:r>
                        <a:t>의미 있는 버전 완성</a:t>
                      </a:r>
                    </a:p>
                  </a:txBody>
                  <a:tcPr>
                    <a:solidFill>
                      <a:srgbClr val="F1F5F9"/>
                    </a:solidFill>
                  </a:tcPr>
                </a:tc>
                <a:tc>
                  <a:txBody>
                    <a:bodyPr/>
                    <a:lstStyle/>
                    <a:p>
                      <a:pPr>
                        <a:defRPr sz="1100" b="0">
                          <a:solidFill>
                            <a:srgbClr val="1E293B"/>
                          </a:solidFill>
                          <a:latin typeface="맑은 고딕"/>
                        </a:defRPr>
                      </a:pPr>
                      <a:r>
                        <a:t>폴더 백업 또는 Git 커밋</a:t>
                      </a:r>
                    </a:p>
                  </a:txBody>
                  <a:tcPr>
                    <a:solidFill>
                      <a:srgbClr val="F1F5F9"/>
                    </a:solidFill>
                  </a:tcPr>
                </a:tc>
                <a:tc>
                  <a:txBody>
                    <a:bodyPr/>
                    <a:lstStyle/>
                    <a:p>
                      <a:pPr>
                        <a:defRPr sz="1100" b="0">
                          <a:solidFill>
                            <a:srgbClr val="1E293B"/>
                          </a:solidFill>
                          <a:latin typeface="맑은 고딕"/>
                        </a:defRPr>
                      </a:pPr>
                      <a:r>
                        <a:t>합격 버전을 영구 보관</a:t>
                      </a:r>
                    </a:p>
                  </a:txBody>
                  <a:tcPr>
                    <a:solidFill>
                      <a:srgbClr val="F1F5F9"/>
                    </a:solidFill>
                  </a:tcPr>
                </a:tc>
                <a:tc>
                  <a:txBody>
                    <a:bodyPr/>
                    <a:lstStyle/>
                    <a:p>
                      <a:pPr>
                        <a:defRPr sz="1100" b="0">
                          <a:solidFill>
                            <a:srgbClr val="1E293B"/>
                          </a:solidFill>
                          <a:latin typeface="맑은 고딕"/>
                        </a:defRPr>
                      </a:pPr>
                      <a:r>
                        <a:t>세션 복원 기능과 별개로 직접 수행</a:t>
                      </a:r>
                    </a:p>
                  </a:txBody>
                  <a:tcPr>
                    <a:solidFill>
                      <a:srgbClr val="F1F5F9"/>
                    </a:solidFill>
                  </a:tcPr>
                </a:tc>
              </a:tr>
            </a:tbl>
          </a:graphicData>
        </a:graphic>
      </p:graphicFrame>
      <p:sp>
        <p:nvSpPr>
          <p:cNvPr id="8" name="TextBox 7"/>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직무별 적용</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내 MVP에서 먼저 물어볼 '빈칸 질문'</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견적이 아니어도 구조는 같습니다. 질문의 답을 요구도면과 검사기준에 옮깁니다</a:t>
            </a:r>
          </a:p>
        </p:txBody>
      </p:sp>
      <p:graphicFrame>
        <p:nvGraphicFramePr>
          <p:cNvPr id="7" name="Table 6"/>
          <p:cNvGraphicFramePr>
            <a:graphicFrameLocks noGrp="1"/>
          </p:cNvGraphicFramePr>
          <p:nvPr/>
        </p:nvGraphicFramePr>
        <p:xfrm>
          <a:off x="548640" y="1417320"/>
          <a:ext cx="11064240" cy="4663440"/>
        </p:xfrm>
        <a:graphic>
          <a:graphicData uri="http://schemas.openxmlformats.org/drawingml/2006/table">
            <a:tbl>
              <a:tblPr firstRow="1" bandRow="1">
                <a:tableStyleId>{5C22544A-7EE6-4342-B048-85BDC9FD1C3A}</a:tableStyleId>
              </a:tblPr>
              <a:tblGrid>
                <a:gridCol w="2766060"/>
                <a:gridCol w="2766060"/>
                <a:gridCol w="2766060"/>
                <a:gridCol w="2766060"/>
              </a:tblGrid>
              <a:tr h="932688">
                <a:tc>
                  <a:txBody>
                    <a:bodyPr/>
                    <a:lstStyle/>
                    <a:p>
                      <a:pPr>
                        <a:defRPr sz="1150" b="1">
                          <a:solidFill>
                            <a:srgbClr val="FFFFFF"/>
                          </a:solidFill>
                          <a:latin typeface="맑은 고딕"/>
                        </a:defRPr>
                      </a:pPr>
                      <a:r>
                        <a:t>직무</a:t>
                      </a:r>
                    </a:p>
                  </a:txBody>
                  <a:tcPr>
                    <a:solidFill>
                      <a:srgbClr val="0F172A"/>
                    </a:solidFill>
                  </a:tcPr>
                </a:tc>
                <a:tc>
                  <a:txBody>
                    <a:bodyPr/>
                    <a:lstStyle/>
                    <a:p>
                      <a:pPr>
                        <a:defRPr sz="1150" b="1">
                          <a:solidFill>
                            <a:srgbClr val="FFFFFF"/>
                          </a:solidFill>
                          <a:latin typeface="맑은 고딕"/>
                        </a:defRPr>
                      </a:pPr>
                      <a:r>
                        <a:t>예제 MVP</a:t>
                      </a:r>
                    </a:p>
                  </a:txBody>
                  <a:tcPr>
                    <a:solidFill>
                      <a:srgbClr val="0F172A"/>
                    </a:solidFill>
                  </a:tcPr>
                </a:tc>
                <a:tc>
                  <a:txBody>
                    <a:bodyPr/>
                    <a:lstStyle/>
                    <a:p>
                      <a:pPr>
                        <a:defRPr sz="1150" b="1">
                          <a:solidFill>
                            <a:srgbClr val="FFFFFF"/>
                          </a:solidFill>
                          <a:latin typeface="맑은 고딕"/>
                        </a:defRPr>
                      </a:pPr>
                      <a:r>
                        <a:t>경계값 질문</a:t>
                      </a:r>
                    </a:p>
                  </a:txBody>
                  <a:tcPr>
                    <a:solidFill>
                      <a:srgbClr val="0F172A"/>
                    </a:solidFill>
                  </a:tcPr>
                </a:tc>
                <a:tc>
                  <a:txBody>
                    <a:bodyPr/>
                    <a:lstStyle/>
                    <a:p>
                      <a:pPr>
                        <a:defRPr sz="1150" b="1">
                          <a:solidFill>
                            <a:srgbClr val="FFFFFF"/>
                          </a:solidFill>
                          <a:latin typeface="맑은 고딕"/>
                        </a:defRPr>
                      </a:pPr>
                      <a:r>
                        <a:t>조합 질문</a:t>
                      </a:r>
                    </a:p>
                  </a:txBody>
                  <a:tcPr>
                    <a:solidFill>
                      <a:srgbClr val="0F172A"/>
                    </a:solidFill>
                  </a:tcPr>
                </a:tc>
              </a:tr>
              <a:tr h="932688">
                <a:tc>
                  <a:txBody>
                    <a:bodyPr/>
                    <a:lstStyle/>
                    <a:p>
                      <a:pPr>
                        <a:defRPr sz="1100" b="1">
                          <a:solidFill>
                            <a:srgbClr val="1E293B"/>
                          </a:solidFill>
                          <a:latin typeface="맑은 고딕"/>
                        </a:defRPr>
                      </a:pPr>
                      <a:r>
                        <a:t>전략기획</a:t>
                      </a:r>
                    </a:p>
                  </a:txBody>
                  <a:tcPr>
                    <a:solidFill>
                      <a:srgbClr val="FFFFFF"/>
                    </a:solidFill>
                  </a:tcPr>
                </a:tc>
                <a:tc>
                  <a:txBody>
                    <a:bodyPr/>
                    <a:lstStyle/>
                    <a:p>
                      <a:pPr>
                        <a:defRPr sz="1100" b="0">
                          <a:solidFill>
                            <a:srgbClr val="1E293B"/>
                          </a:solidFill>
                          <a:latin typeface="맑은 고딕"/>
                        </a:defRPr>
                      </a:pPr>
                      <a:r>
                        <a:t>경영 KPI 대시보드</a:t>
                      </a:r>
                    </a:p>
                  </a:txBody>
                  <a:tcPr>
                    <a:solidFill>
                      <a:srgbClr val="FFFFFF"/>
                    </a:solidFill>
                  </a:tcPr>
                </a:tc>
                <a:tc>
                  <a:txBody>
                    <a:bodyPr/>
                    <a:lstStyle/>
                    <a:p>
                      <a:pPr>
                        <a:defRPr sz="1100" b="0">
                          <a:solidFill>
                            <a:srgbClr val="1E293B"/>
                          </a:solidFill>
                          <a:latin typeface="맑은 고딕"/>
                        </a:defRPr>
                      </a:pPr>
                      <a:r>
                        <a:t>달성률이 신호등 기준과 같으면 어느 색인가?</a:t>
                      </a:r>
                    </a:p>
                  </a:txBody>
                  <a:tcPr>
                    <a:solidFill>
                      <a:srgbClr val="FFFFFF"/>
                    </a:solidFill>
                  </a:tcPr>
                </a:tc>
                <a:tc>
                  <a:txBody>
                    <a:bodyPr/>
                    <a:lstStyle/>
                    <a:p>
                      <a:pPr>
                        <a:defRPr sz="1100" b="0">
                          <a:solidFill>
                            <a:srgbClr val="1E293B"/>
                          </a:solidFill>
                          <a:latin typeface="맑은 고딕"/>
                        </a:defRPr>
                      </a:pPr>
                      <a:r>
                        <a:t>낮을수록 좋은 지표(불량률 등)도 같은 방향으로 판정하는가?</a:t>
                      </a:r>
                    </a:p>
                  </a:txBody>
                  <a:tcPr>
                    <a:solidFill>
                      <a:srgbClr val="FFFFFF"/>
                    </a:solidFill>
                  </a:tcPr>
                </a:tc>
              </a:tr>
              <a:tr h="932688">
                <a:tc>
                  <a:txBody>
                    <a:bodyPr/>
                    <a:lstStyle/>
                    <a:p>
                      <a:pPr>
                        <a:defRPr sz="1100" b="1">
                          <a:solidFill>
                            <a:srgbClr val="1E293B"/>
                          </a:solidFill>
                          <a:latin typeface="맑은 고딕"/>
                        </a:defRPr>
                      </a:pPr>
                      <a:r>
                        <a:t>재무</a:t>
                      </a:r>
                    </a:p>
                  </a:txBody>
                  <a:tcPr>
                    <a:solidFill>
                      <a:srgbClr val="F1F5F9"/>
                    </a:solidFill>
                  </a:tcPr>
                </a:tc>
                <a:tc>
                  <a:txBody>
                    <a:bodyPr/>
                    <a:lstStyle/>
                    <a:p>
                      <a:pPr>
                        <a:defRPr sz="1100" b="0">
                          <a:solidFill>
                            <a:srgbClr val="1E293B"/>
                          </a:solidFill>
                          <a:latin typeface="맑은 고딕"/>
                        </a:defRPr>
                      </a:pPr>
                      <a:r>
                        <a:t>예산 대비 실적 분석기</a:t>
                      </a:r>
                    </a:p>
                  </a:txBody>
                  <a:tcPr>
                    <a:solidFill>
                      <a:srgbClr val="F1F5F9"/>
                    </a:solidFill>
                  </a:tcPr>
                </a:tc>
                <a:tc>
                  <a:txBody>
                    <a:bodyPr/>
                    <a:lstStyle/>
                    <a:p>
                      <a:pPr>
                        <a:defRPr sz="1100" b="0">
                          <a:solidFill>
                            <a:srgbClr val="1E293B"/>
                          </a:solidFill>
                          <a:latin typeface="맑은 고딕"/>
                        </a:defRPr>
                      </a:pPr>
                      <a:r>
                        <a:t>소진율이 정확히 100%면 초과인가?</a:t>
                      </a:r>
                    </a:p>
                  </a:txBody>
                  <a:tcPr>
                    <a:solidFill>
                      <a:srgbClr val="F1F5F9"/>
                    </a:solidFill>
                  </a:tcPr>
                </a:tc>
                <a:tc>
                  <a:txBody>
                    <a:bodyPr/>
                    <a:lstStyle/>
                    <a:p>
                      <a:pPr>
                        <a:defRPr sz="1100" b="0">
                          <a:solidFill>
                            <a:srgbClr val="1E293B"/>
                          </a:solidFill>
                          <a:latin typeface="맑은 고딕"/>
                        </a:defRPr>
                      </a:pPr>
                      <a:r>
                        <a:t>예산이 0인데 집행이 있으면 어떻게 표시하는가?</a:t>
                      </a:r>
                    </a:p>
                  </a:txBody>
                  <a:tcPr>
                    <a:solidFill>
                      <a:srgbClr val="F1F5F9"/>
                    </a:solidFill>
                  </a:tcPr>
                </a:tc>
              </a:tr>
              <a:tr h="932688">
                <a:tc>
                  <a:txBody>
                    <a:bodyPr/>
                    <a:lstStyle/>
                    <a:p>
                      <a:pPr>
                        <a:defRPr sz="1100" b="1">
                          <a:solidFill>
                            <a:srgbClr val="1E293B"/>
                          </a:solidFill>
                          <a:latin typeface="맑은 고딕"/>
                        </a:defRPr>
                      </a:pPr>
                      <a:r>
                        <a:t>마케팅</a:t>
                      </a:r>
                    </a:p>
                  </a:txBody>
                  <a:tcPr>
                    <a:solidFill>
                      <a:srgbClr val="FFFFFF"/>
                    </a:solidFill>
                  </a:tcPr>
                </a:tc>
                <a:tc>
                  <a:txBody>
                    <a:bodyPr/>
                    <a:lstStyle/>
                    <a:p>
                      <a:pPr>
                        <a:defRPr sz="1100" b="0">
                          <a:solidFill>
                            <a:srgbClr val="1E293B"/>
                          </a:solidFill>
                          <a:latin typeface="맑은 고딕"/>
                        </a:defRPr>
                      </a:pPr>
                      <a:r>
                        <a:t>캠페인 ROI 분석기</a:t>
                      </a:r>
                    </a:p>
                  </a:txBody>
                  <a:tcPr>
                    <a:solidFill>
                      <a:srgbClr val="FFFFFF"/>
                    </a:solidFill>
                  </a:tcPr>
                </a:tc>
                <a:tc>
                  <a:txBody>
                    <a:bodyPr/>
                    <a:lstStyle/>
                    <a:p>
                      <a:pPr>
                        <a:defRPr sz="1100" b="0">
                          <a:solidFill>
                            <a:srgbClr val="1E293B"/>
                          </a:solidFill>
                          <a:latin typeface="맑은 고딕"/>
                        </a:defRPr>
                      </a:pPr>
                      <a:r>
                        <a:t>ROAS가 기준과 같으면 저효율인가?</a:t>
                      </a:r>
                    </a:p>
                  </a:txBody>
                  <a:tcPr>
                    <a:solidFill>
                      <a:srgbClr val="FFFFFF"/>
                    </a:solidFill>
                  </a:tcPr>
                </a:tc>
                <a:tc>
                  <a:txBody>
                    <a:bodyPr/>
                    <a:lstStyle/>
                    <a:p>
                      <a:pPr>
                        <a:defRPr sz="1100" b="0">
                          <a:solidFill>
                            <a:srgbClr val="1E293B"/>
                          </a:solidFill>
                          <a:latin typeface="맑은 고딕"/>
                        </a:defRPr>
                      </a:pPr>
                      <a:r>
                        <a:t>매출 귀속이 다음 달로 넘어간 캠페인은 어떻게 볼까?</a:t>
                      </a:r>
                    </a:p>
                  </a:txBody>
                  <a:tcPr>
                    <a:solidFill>
                      <a:srgbClr val="FFFFFF"/>
                    </a:solidFill>
                  </a:tcPr>
                </a:tc>
              </a:tr>
              <a:tr h="932688">
                <a:tc>
                  <a:txBody>
                    <a:bodyPr/>
                    <a:lstStyle/>
                    <a:p>
                      <a:pPr>
                        <a:defRPr sz="1100" b="1">
                          <a:solidFill>
                            <a:srgbClr val="1E293B"/>
                          </a:solidFill>
                          <a:latin typeface="맑은 고딕"/>
                        </a:defRPr>
                      </a:pPr>
                      <a:r>
                        <a:t>세일즈</a:t>
                      </a:r>
                    </a:p>
                  </a:txBody>
                  <a:tcPr>
                    <a:solidFill>
                      <a:srgbClr val="F1F5F9"/>
                    </a:solidFill>
                  </a:tcPr>
                </a:tc>
                <a:tc>
                  <a:txBody>
                    <a:bodyPr/>
                    <a:lstStyle/>
                    <a:p>
                      <a:pPr>
                        <a:defRPr sz="1100" b="0">
                          <a:solidFill>
                            <a:srgbClr val="1E293B"/>
                          </a:solidFill>
                          <a:latin typeface="맑은 고딕"/>
                        </a:defRPr>
                      </a:pPr>
                      <a:r>
                        <a:t>스마트 견적 검증기</a:t>
                      </a:r>
                    </a:p>
                  </a:txBody>
                  <a:tcPr>
                    <a:solidFill>
                      <a:srgbClr val="F1F5F9"/>
                    </a:solidFill>
                  </a:tcPr>
                </a:tc>
                <a:tc>
                  <a:txBody>
                    <a:bodyPr/>
                    <a:lstStyle/>
                    <a:p>
                      <a:pPr>
                        <a:defRPr sz="1100" b="0">
                          <a:solidFill>
                            <a:srgbClr val="1E293B"/>
                          </a:solidFill>
                          <a:latin typeface="맑은 고딕"/>
                        </a:defRPr>
                      </a:pPr>
                      <a:r>
                        <a:t>마진이 최소 기준과 같으면 발행 가능한가?</a:t>
                      </a:r>
                    </a:p>
                  </a:txBody>
                  <a:tcPr>
                    <a:solidFill>
                      <a:srgbClr val="F1F5F9"/>
                    </a:solidFill>
                  </a:tcPr>
                </a:tc>
                <a:tc>
                  <a:txBody>
                    <a:bodyPr/>
                    <a:lstStyle/>
                    <a:p>
                      <a:pPr>
                        <a:defRPr sz="1100" b="0">
                          <a:solidFill>
                            <a:srgbClr val="1E293B"/>
                          </a:solidFill>
                          <a:latin typeface="맑은 고딕"/>
                        </a:defRPr>
                      </a:pPr>
                      <a:r>
                        <a:t>한도 초과이나 마진 충족이면 누가 승인하는가?</a:t>
                      </a:r>
                    </a:p>
                  </a:txBody>
                  <a:tcPr>
                    <a:solidFill>
                      <a:srgbClr val="F1F5F9"/>
                    </a:solidFill>
                  </a:tcPr>
                </a:tc>
              </a:tr>
            </a:tbl>
          </a:graphicData>
        </a:graphic>
      </p:graphicFrame>
      <p:sp>
        <p:nvSpPr>
          <p:cNvPr id="8" name="TextBox 7"/>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Session 6 · 출고 심사</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짝꿍 교차 심사표: 만든 사람이 아닌 동료가 판정합니다</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모두 '예'일 때만 출고합니다. 하나라도 '아니오'면 수정 후 재심사합니다</a:t>
            </a:r>
          </a:p>
        </p:txBody>
      </p:sp>
      <p:graphicFrame>
        <p:nvGraphicFramePr>
          <p:cNvPr id="7" name="Table 6"/>
          <p:cNvGraphicFramePr>
            <a:graphicFrameLocks noGrp="1"/>
          </p:cNvGraphicFramePr>
          <p:nvPr/>
        </p:nvGraphicFramePr>
        <p:xfrm>
          <a:off x="548640" y="1417320"/>
          <a:ext cx="11064240" cy="4663440"/>
        </p:xfrm>
        <a:graphic>
          <a:graphicData uri="http://schemas.openxmlformats.org/drawingml/2006/table">
            <a:tbl>
              <a:tblPr firstRow="1" bandRow="1">
                <a:tableStyleId>{5C22544A-7EE6-4342-B048-85BDC9FD1C3A}</a:tableStyleId>
              </a:tblPr>
              <a:tblGrid>
                <a:gridCol w="2766060"/>
                <a:gridCol w="2766060"/>
                <a:gridCol w="2766060"/>
                <a:gridCol w="2766060"/>
              </a:tblGrid>
              <a:tr h="582930">
                <a:tc>
                  <a:txBody>
                    <a:bodyPr/>
                    <a:lstStyle/>
                    <a:p>
                      <a:pPr>
                        <a:defRPr sz="1150" b="1">
                          <a:solidFill>
                            <a:srgbClr val="FFFFFF"/>
                          </a:solidFill>
                          <a:latin typeface="맑은 고딕"/>
                        </a:defRPr>
                      </a:pPr>
                      <a:r>
                        <a:t>No</a:t>
                      </a:r>
                    </a:p>
                  </a:txBody>
                  <a:tcPr>
                    <a:solidFill>
                      <a:srgbClr val="0F172A"/>
                    </a:solidFill>
                  </a:tcPr>
                </a:tc>
                <a:tc>
                  <a:txBody>
                    <a:bodyPr/>
                    <a:lstStyle/>
                    <a:p>
                      <a:pPr>
                        <a:defRPr sz="1150" b="1">
                          <a:solidFill>
                            <a:srgbClr val="FFFFFF"/>
                          </a:solidFill>
                          <a:latin typeface="맑은 고딕"/>
                        </a:defRPr>
                      </a:pPr>
                      <a:r>
                        <a:t>심사 항목</a:t>
                      </a:r>
                    </a:p>
                  </a:txBody>
                  <a:tcPr>
                    <a:solidFill>
                      <a:srgbClr val="0F172A"/>
                    </a:solidFill>
                  </a:tcPr>
                </a:tc>
                <a:tc>
                  <a:txBody>
                    <a:bodyPr/>
                    <a:lstStyle/>
                    <a:p>
                      <a:pPr>
                        <a:defRPr sz="1150" b="1">
                          <a:solidFill>
                            <a:srgbClr val="FFFFFF"/>
                          </a:solidFill>
                          <a:latin typeface="맑은 고딕"/>
                        </a:defRPr>
                      </a:pPr>
                      <a:r>
                        <a:t>확인 방법</a:t>
                      </a:r>
                    </a:p>
                  </a:txBody>
                  <a:tcPr>
                    <a:solidFill>
                      <a:srgbClr val="0F172A"/>
                    </a:solidFill>
                  </a:tcPr>
                </a:tc>
                <a:tc>
                  <a:txBody>
                    <a:bodyPr/>
                    <a:lstStyle/>
                    <a:p>
                      <a:pPr>
                        <a:defRPr sz="1150" b="1">
                          <a:solidFill>
                            <a:srgbClr val="FFFFFF"/>
                          </a:solidFill>
                          <a:latin typeface="맑은 고딕"/>
                        </a:defRPr>
                      </a:pPr>
                      <a:r>
                        <a:t>합격 기준</a:t>
                      </a:r>
                    </a:p>
                  </a:txBody>
                  <a:tcPr>
                    <a:solidFill>
                      <a:srgbClr val="0F172A"/>
                    </a:solidFill>
                  </a:tcPr>
                </a:tc>
              </a:tr>
              <a:tr h="582930">
                <a:tc>
                  <a:txBody>
                    <a:bodyPr/>
                    <a:lstStyle/>
                    <a:p>
                      <a:pPr>
                        <a:defRPr sz="1100" b="1">
                          <a:solidFill>
                            <a:srgbClr val="1E293B"/>
                          </a:solidFill>
                          <a:latin typeface="맑은 고딕"/>
                        </a:defRPr>
                      </a:pPr>
                      <a:r>
                        <a:t>1</a:t>
                      </a:r>
                    </a:p>
                  </a:txBody>
                  <a:tcPr>
                    <a:solidFill>
                      <a:srgbClr val="FFFFFF"/>
                    </a:solidFill>
                  </a:tcPr>
                </a:tc>
                <a:tc>
                  <a:txBody>
                    <a:bodyPr/>
                    <a:lstStyle/>
                    <a:p>
                      <a:pPr>
                        <a:defRPr sz="1100" b="0">
                          <a:solidFill>
                            <a:srgbClr val="1E293B"/>
                          </a:solidFill>
                          <a:latin typeface="맑은 고딕"/>
                        </a:defRPr>
                      </a:pPr>
                      <a:r>
                        <a:t>규칙이 숫자로 적혀 있는가</a:t>
                      </a:r>
                    </a:p>
                  </a:txBody>
                  <a:tcPr>
                    <a:solidFill>
                      <a:srgbClr val="FFFFFF"/>
                    </a:solidFill>
                  </a:tcPr>
                </a:tc>
                <a:tc>
                  <a:txBody>
                    <a:bodyPr/>
                    <a:lstStyle/>
                    <a:p>
                      <a:pPr>
                        <a:defRPr sz="1100" b="0">
                          <a:solidFill>
                            <a:srgbClr val="1E293B"/>
                          </a:solidFill>
                          <a:latin typeface="맑은 고딕"/>
                        </a:defRPr>
                      </a:pPr>
                      <a:r>
                        <a:t>요구도면을 처음 읽는 동료가 판정 시도</a:t>
                      </a:r>
                    </a:p>
                  </a:txBody>
                  <a:tcPr>
                    <a:solidFill>
                      <a:srgbClr val="FFFFFF"/>
                    </a:solidFill>
                  </a:tcPr>
                </a:tc>
                <a:tc>
                  <a:txBody>
                    <a:bodyPr/>
                    <a:lstStyle/>
                    <a:p>
                      <a:pPr>
                        <a:defRPr sz="1100" b="0">
                          <a:solidFill>
                            <a:srgbClr val="1E293B"/>
                          </a:solidFill>
                          <a:latin typeface="맑은 고딕"/>
                        </a:defRPr>
                      </a:pPr>
                      <a:r>
                        <a:t>작성자와 같은 판정이 나옴</a:t>
                      </a:r>
                    </a:p>
                  </a:txBody>
                  <a:tcPr>
                    <a:solidFill>
                      <a:srgbClr val="FFFFFF"/>
                    </a:solidFill>
                  </a:tcPr>
                </a:tc>
              </a:tr>
              <a:tr h="582930">
                <a:tc>
                  <a:txBody>
                    <a:bodyPr/>
                    <a:lstStyle/>
                    <a:p>
                      <a:pPr>
                        <a:defRPr sz="1100" b="1">
                          <a:solidFill>
                            <a:srgbClr val="1E293B"/>
                          </a:solidFill>
                          <a:latin typeface="맑은 고딕"/>
                        </a:defRPr>
                      </a:pPr>
                      <a:r>
                        <a:t>2</a:t>
                      </a:r>
                    </a:p>
                  </a:txBody>
                  <a:tcPr>
                    <a:solidFill>
                      <a:srgbClr val="F1F5F9"/>
                    </a:solidFill>
                  </a:tcPr>
                </a:tc>
                <a:tc>
                  <a:txBody>
                    <a:bodyPr/>
                    <a:lstStyle/>
                    <a:p>
                      <a:pPr>
                        <a:defRPr sz="1100" b="0">
                          <a:solidFill>
                            <a:srgbClr val="1E293B"/>
                          </a:solidFill>
                          <a:latin typeface="맑은 고딕"/>
                        </a:defRPr>
                      </a:pPr>
                      <a:r>
                        <a:t>판정표에 빈칸이 없는가</a:t>
                      </a:r>
                    </a:p>
                  </a:txBody>
                  <a:tcPr>
                    <a:solidFill>
                      <a:srgbClr val="F1F5F9"/>
                    </a:solidFill>
                  </a:tcPr>
                </a:tc>
                <a:tc>
                  <a:txBody>
                    <a:bodyPr/>
                    <a:lstStyle/>
                    <a:p>
                      <a:pPr>
                        <a:defRPr sz="1100" b="0">
                          <a:solidFill>
                            <a:srgbClr val="1E293B"/>
                          </a:solidFill>
                          <a:latin typeface="맑은 고딕"/>
                        </a:defRPr>
                      </a:pPr>
                      <a:r>
                        <a:t>조건 조합을 하나씩 대조</a:t>
                      </a:r>
                    </a:p>
                  </a:txBody>
                  <a:tcPr>
                    <a:solidFill>
                      <a:srgbClr val="F1F5F9"/>
                    </a:solidFill>
                  </a:tcPr>
                </a:tc>
                <a:tc>
                  <a:txBody>
                    <a:bodyPr/>
                    <a:lstStyle/>
                    <a:p>
                      <a:pPr>
                        <a:defRPr sz="1100" b="0">
                          <a:solidFill>
                            <a:srgbClr val="1E293B"/>
                          </a:solidFill>
                          <a:latin typeface="맑은 고딕"/>
                        </a:defRPr>
                      </a:pPr>
                      <a:r>
                        <a:t>모든 칸에 결과와 소유자 존재</a:t>
                      </a:r>
                    </a:p>
                  </a:txBody>
                  <a:tcPr>
                    <a:solidFill>
                      <a:srgbClr val="F1F5F9"/>
                    </a:solidFill>
                  </a:tcPr>
                </a:tc>
              </a:tr>
              <a:tr h="582930">
                <a:tc>
                  <a:txBody>
                    <a:bodyPr/>
                    <a:lstStyle/>
                    <a:p>
                      <a:pPr>
                        <a:defRPr sz="1100" b="1">
                          <a:solidFill>
                            <a:srgbClr val="1E293B"/>
                          </a:solidFill>
                          <a:latin typeface="맑은 고딕"/>
                        </a:defRPr>
                      </a:pPr>
                      <a:r>
                        <a:t>3</a:t>
                      </a:r>
                    </a:p>
                  </a:txBody>
                  <a:tcPr>
                    <a:solidFill>
                      <a:srgbClr val="FFFFFF"/>
                    </a:solidFill>
                  </a:tcPr>
                </a:tc>
                <a:tc>
                  <a:txBody>
                    <a:bodyPr/>
                    <a:lstStyle/>
                    <a:p>
                      <a:pPr>
                        <a:defRPr sz="1100" b="0">
                          <a:solidFill>
                            <a:srgbClr val="1E293B"/>
                          </a:solidFill>
                          <a:latin typeface="맑은 고딕"/>
                        </a:defRPr>
                      </a:pPr>
                      <a:r>
                        <a:t>경계값 사례가 있는가</a:t>
                      </a:r>
                    </a:p>
                  </a:txBody>
                  <a:tcPr>
                    <a:solidFill>
                      <a:srgbClr val="FFFFFF"/>
                    </a:solidFill>
                  </a:tcPr>
                </a:tc>
                <a:tc>
                  <a:txBody>
                    <a:bodyPr/>
                    <a:lstStyle/>
                    <a:p>
                      <a:pPr>
                        <a:defRPr sz="1100" b="0">
                          <a:solidFill>
                            <a:srgbClr val="1E293B"/>
                          </a:solidFill>
                          <a:latin typeface="맑은 고딕"/>
                        </a:defRPr>
                      </a:pPr>
                      <a:r>
                        <a:t>검사기준에서 '기준과 동일' 사례 확인</a:t>
                      </a:r>
                    </a:p>
                  </a:txBody>
                  <a:tcPr>
                    <a:solidFill>
                      <a:srgbClr val="FFFFFF"/>
                    </a:solidFill>
                  </a:tcPr>
                </a:tc>
                <a:tc>
                  <a:txBody>
                    <a:bodyPr/>
                    <a:lstStyle/>
                    <a:p>
                      <a:pPr>
                        <a:defRPr sz="1100" b="0">
                          <a:solidFill>
                            <a:srgbClr val="1E293B"/>
                          </a:solidFill>
                          <a:latin typeface="맑은 고딕"/>
                        </a:defRPr>
                      </a:pPr>
                      <a:r>
                        <a:t>기준 항목마다 1건 이상</a:t>
                      </a:r>
                    </a:p>
                  </a:txBody>
                  <a:tcPr>
                    <a:solidFill>
                      <a:srgbClr val="FFFFFF"/>
                    </a:solidFill>
                  </a:tcPr>
                </a:tc>
              </a:tr>
              <a:tr h="582930">
                <a:tc>
                  <a:txBody>
                    <a:bodyPr/>
                    <a:lstStyle/>
                    <a:p>
                      <a:pPr>
                        <a:defRPr sz="1100" b="1">
                          <a:solidFill>
                            <a:srgbClr val="1E293B"/>
                          </a:solidFill>
                          <a:latin typeface="맑은 고딕"/>
                        </a:defRPr>
                      </a:pPr>
                      <a:r>
                        <a:t>4</a:t>
                      </a:r>
                    </a:p>
                  </a:txBody>
                  <a:tcPr>
                    <a:solidFill>
                      <a:srgbClr val="F1F5F9"/>
                    </a:solidFill>
                  </a:tcPr>
                </a:tc>
                <a:tc>
                  <a:txBody>
                    <a:bodyPr/>
                    <a:lstStyle/>
                    <a:p>
                      <a:pPr>
                        <a:defRPr sz="1100" b="0">
                          <a:solidFill>
                            <a:srgbClr val="1E293B"/>
                          </a:solidFill>
                          <a:latin typeface="맑은 고딕"/>
                        </a:defRPr>
                      </a:pPr>
                      <a:r>
                        <a:t>자가검사가 불량을 잡는가</a:t>
                      </a:r>
                    </a:p>
                  </a:txBody>
                  <a:tcPr>
                    <a:solidFill>
                      <a:srgbClr val="F1F5F9"/>
                    </a:solidFill>
                  </a:tcPr>
                </a:tc>
                <a:tc>
                  <a:txBody>
                    <a:bodyPr/>
                    <a:lstStyle/>
                    <a:p>
                      <a:pPr>
                        <a:defRPr sz="1100" b="0">
                          <a:solidFill>
                            <a:srgbClr val="1E293B"/>
                          </a:solidFill>
                          <a:latin typeface="맑은 고딕"/>
                        </a:defRPr>
                      </a:pPr>
                      <a:r>
                        <a:t>기대값 하나를 일부러 틀리게 변경</a:t>
                      </a:r>
                    </a:p>
                  </a:txBody>
                  <a:tcPr>
                    <a:solidFill>
                      <a:srgbClr val="F1F5F9"/>
                    </a:solidFill>
                  </a:tcPr>
                </a:tc>
                <a:tc>
                  <a:txBody>
                    <a:bodyPr/>
                    <a:lstStyle/>
                    <a:p>
                      <a:pPr>
                        <a:defRPr sz="1100" b="0">
                          <a:solidFill>
                            <a:srgbClr val="1E293B"/>
                          </a:solidFill>
                          <a:latin typeface="맑은 고딕"/>
                        </a:defRPr>
                      </a:pPr>
                      <a:r>
                        <a:t>불합격 표시 후 원상 복구</a:t>
                      </a:r>
                    </a:p>
                  </a:txBody>
                  <a:tcPr>
                    <a:solidFill>
                      <a:srgbClr val="F1F5F9"/>
                    </a:solidFill>
                  </a:tcPr>
                </a:tc>
              </a:tr>
              <a:tr h="582930">
                <a:tc>
                  <a:txBody>
                    <a:bodyPr/>
                    <a:lstStyle/>
                    <a:p>
                      <a:pPr>
                        <a:defRPr sz="1100" b="1">
                          <a:solidFill>
                            <a:srgbClr val="1E293B"/>
                          </a:solidFill>
                          <a:latin typeface="맑은 고딕"/>
                        </a:defRPr>
                      </a:pPr>
                      <a:r>
                        <a:t>5</a:t>
                      </a:r>
                    </a:p>
                  </a:txBody>
                  <a:tcPr>
                    <a:solidFill>
                      <a:srgbClr val="FFFFFF"/>
                    </a:solidFill>
                  </a:tcPr>
                </a:tc>
                <a:tc>
                  <a:txBody>
                    <a:bodyPr/>
                    <a:lstStyle/>
                    <a:p>
                      <a:pPr>
                        <a:defRPr sz="1100" b="0">
                          <a:solidFill>
                            <a:srgbClr val="1E293B"/>
                          </a:solidFill>
                          <a:latin typeface="맑은 고딕"/>
                        </a:defRPr>
                      </a:pPr>
                      <a:r>
                        <a:t>화면과 검사가 같은 로직인가</a:t>
                      </a:r>
                    </a:p>
                  </a:txBody>
                  <a:tcPr>
                    <a:solidFill>
                      <a:srgbClr val="FFFFFF"/>
                    </a:solidFill>
                  </a:tcPr>
                </a:tc>
                <a:tc>
                  <a:txBody>
                    <a:bodyPr/>
                    <a:lstStyle/>
                    <a:p>
                      <a:pPr>
                        <a:defRPr sz="1100" b="0">
                          <a:solidFill>
                            <a:srgbClr val="1E293B"/>
                          </a:solidFill>
                          <a:latin typeface="맑은 고딕"/>
                        </a:defRPr>
                      </a:pPr>
                      <a:r>
                        <a:t>화면 판정과 자가검사 결과 비교</a:t>
                      </a:r>
                    </a:p>
                  </a:txBody>
                  <a:tcPr>
                    <a:solidFill>
                      <a:srgbClr val="FFFFFF"/>
                    </a:solidFill>
                  </a:tcPr>
                </a:tc>
                <a:tc>
                  <a:txBody>
                    <a:bodyPr/>
                    <a:lstStyle/>
                    <a:p>
                      <a:pPr>
                        <a:defRPr sz="1100" b="0">
                          <a:solidFill>
                            <a:srgbClr val="1E293B"/>
                          </a:solidFill>
                          <a:latin typeface="맑은 고딕"/>
                        </a:defRPr>
                      </a:pPr>
                      <a:r>
                        <a:t>동일 입력에 동일 판정</a:t>
                      </a:r>
                    </a:p>
                  </a:txBody>
                  <a:tcPr>
                    <a:solidFill>
                      <a:srgbClr val="FFFFFF"/>
                    </a:solidFill>
                  </a:tcPr>
                </a:tc>
              </a:tr>
              <a:tr h="582930">
                <a:tc>
                  <a:txBody>
                    <a:bodyPr/>
                    <a:lstStyle/>
                    <a:p>
                      <a:pPr>
                        <a:defRPr sz="1100" b="1">
                          <a:solidFill>
                            <a:srgbClr val="1E293B"/>
                          </a:solidFill>
                          <a:latin typeface="맑은 고딕"/>
                        </a:defRPr>
                      </a:pPr>
                      <a:r>
                        <a:t>6</a:t>
                      </a:r>
                    </a:p>
                  </a:txBody>
                  <a:tcPr>
                    <a:solidFill>
                      <a:srgbClr val="F1F5F9"/>
                    </a:solidFill>
                  </a:tcPr>
                </a:tc>
                <a:tc>
                  <a:txBody>
                    <a:bodyPr/>
                    <a:lstStyle/>
                    <a:p>
                      <a:pPr>
                        <a:defRPr sz="1100" b="0">
                          <a:solidFill>
                            <a:srgbClr val="1E293B"/>
                          </a:solidFill>
                          <a:latin typeface="맑은 고딕"/>
                        </a:defRPr>
                      </a:pPr>
                      <a:r>
                        <a:t>변경 이력을 추적할 수 있는가</a:t>
                      </a:r>
                    </a:p>
                  </a:txBody>
                  <a:tcPr>
                    <a:solidFill>
                      <a:srgbClr val="F1F5F9"/>
                    </a:solidFill>
                  </a:tcPr>
                </a:tc>
                <a:tc>
                  <a:txBody>
                    <a:bodyPr/>
                    <a:lstStyle/>
                    <a:p>
                      <a:pPr>
                        <a:defRPr sz="1100" b="0">
                          <a:solidFill>
                            <a:srgbClr val="1E293B"/>
                          </a:solidFill>
                          <a:latin typeface="맑은 고딕"/>
                        </a:defRPr>
                      </a:pPr>
                      <a:r>
                        <a:t>변경이력과 요구도면 버전 대조</a:t>
                      </a:r>
                    </a:p>
                  </a:txBody>
                  <a:tcPr>
                    <a:solidFill>
                      <a:srgbClr val="F1F5F9"/>
                    </a:solidFill>
                  </a:tcPr>
                </a:tc>
                <a:tc>
                  <a:txBody>
                    <a:bodyPr/>
                    <a:lstStyle/>
                    <a:p>
                      <a:pPr>
                        <a:defRPr sz="1100" b="0">
                          <a:solidFill>
                            <a:srgbClr val="1E293B"/>
                          </a:solidFill>
                          <a:latin typeface="맑은 고딕"/>
                        </a:defRPr>
                      </a:pPr>
                      <a:r>
                        <a:t>사유·전후 값·재검사 결과 기록</a:t>
                      </a:r>
                    </a:p>
                  </a:txBody>
                  <a:tcPr>
                    <a:solidFill>
                      <a:srgbClr val="F1F5F9"/>
                    </a:solidFill>
                  </a:tcPr>
                </a:tc>
              </a:tr>
              <a:tr h="582930">
                <a:tc>
                  <a:txBody>
                    <a:bodyPr/>
                    <a:lstStyle/>
                    <a:p>
                      <a:pPr>
                        <a:defRPr sz="1100" b="1">
                          <a:solidFill>
                            <a:srgbClr val="1E293B"/>
                          </a:solidFill>
                          <a:latin typeface="맑은 고딕"/>
                        </a:defRPr>
                      </a:pPr>
                      <a:r>
                        <a:t>7</a:t>
                      </a:r>
                    </a:p>
                  </a:txBody>
                  <a:tcPr>
                    <a:solidFill>
                      <a:srgbClr val="FFFFFF"/>
                    </a:solidFill>
                  </a:tcPr>
                </a:tc>
                <a:tc>
                  <a:txBody>
                    <a:bodyPr/>
                    <a:lstStyle/>
                    <a:p>
                      <a:pPr>
                        <a:defRPr sz="1100" b="0">
                          <a:solidFill>
                            <a:srgbClr val="1E293B"/>
                          </a:solidFill>
                          <a:latin typeface="맑은 고딕"/>
                        </a:defRPr>
                      </a:pPr>
                      <a:r>
                        <a:t>보안 기준을 지켰는가</a:t>
                      </a:r>
                    </a:p>
                  </a:txBody>
                  <a:tcPr>
                    <a:solidFill>
                      <a:srgbClr val="FFFFFF"/>
                    </a:solidFill>
                  </a:tcPr>
                </a:tc>
                <a:tc>
                  <a:txBody>
                    <a:bodyPr/>
                    <a:lstStyle/>
                    <a:p>
                      <a:pPr>
                        <a:defRPr sz="1100" b="0">
                          <a:solidFill>
                            <a:srgbClr val="1E293B"/>
                          </a:solidFill>
                          <a:latin typeface="맑은 고딕"/>
                        </a:defRPr>
                      </a:pPr>
                      <a:r>
                        <a:t>화면, CSV, 문서 4장 전체 확인</a:t>
                      </a:r>
                    </a:p>
                  </a:txBody>
                  <a:tcPr>
                    <a:solidFill>
                      <a:srgbClr val="FFFFFF"/>
                    </a:solidFill>
                  </a:tcPr>
                </a:tc>
                <a:tc>
                  <a:txBody>
                    <a:bodyPr/>
                    <a:lstStyle/>
                    <a:p>
                      <a:pPr>
                        <a:defRPr sz="1100" b="0">
                          <a:solidFill>
                            <a:srgbClr val="1E293B"/>
                          </a:solidFill>
                          <a:latin typeface="맑은 고딕"/>
                        </a:defRPr>
                      </a:pPr>
                      <a:r>
                        <a:t>실명·실제 원가 없음</a:t>
                      </a:r>
                    </a:p>
                  </a:txBody>
                  <a:tcPr>
                    <a:solidFill>
                      <a:srgbClr val="FFFFFF"/>
                    </a:solidFill>
                  </a:tcPr>
                </a:tc>
              </a:tr>
            </a:tbl>
          </a:graphicData>
        </a:graphic>
      </p:graphicFrame>
      <p:sp>
        <p:nvSpPr>
          <p:cNvPr id="8" name="TextBox 7"/>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Wrap-up · 부서 정착</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교육장을 나가서 첫 2주에 할 일</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모든 도구에 적용하지 않습니다. 틀리면 비용이 큰 판정부터 시작합니다</a:t>
            </a:r>
          </a:p>
        </p:txBody>
      </p:sp>
      <p:sp>
        <p:nvSpPr>
          <p:cNvPr id="7" name="Rounded Rectangle 6"/>
          <p:cNvSpPr/>
          <p:nvPr/>
        </p:nvSpPr>
        <p:spPr>
          <a:xfrm>
            <a:off x="548640" y="1371600"/>
            <a:ext cx="3505200" cy="4434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36192"/>
            <a:ext cx="3102864" cy="4142231"/>
          </a:xfrm>
          <a:prstGeom prst="rect">
            <a:avLst/>
          </a:prstGeom>
          <a:noFill/>
        </p:spPr>
        <p:txBody>
          <a:bodyPr wrap="square">
            <a:spAutoFit/>
          </a:bodyPr>
          <a:lstStyle/>
          <a:p>
            <a:pPr>
              <a:defRPr sz="1500" b="1">
                <a:solidFill>
                  <a:srgbClr val="2563EB"/>
                </a:solidFill>
                <a:latin typeface="맑은 고딕"/>
              </a:defRPr>
            </a:pPr>
            <a:r>
              <a:t>1주 차: 규칙 소유자 찾기</a:t>
            </a:r>
          </a:p>
          <a:p>
            <a:pPr>
              <a:spcBef>
                <a:spcPts val="600"/>
              </a:spcBef>
              <a:defRPr sz="1200">
                <a:solidFill>
                  <a:srgbClr val="1E293B"/>
                </a:solidFill>
                <a:latin typeface="맑은 고딕"/>
              </a:defRPr>
            </a:pPr>
            <a:r>
              <a:t>• 내 MVP의 판정 규칙마다 근거 규정 확인</a:t>
            </a:r>
          </a:p>
          <a:p>
            <a:pPr>
              <a:spcBef>
                <a:spcPts val="600"/>
              </a:spcBef>
              <a:defRPr sz="1200">
                <a:solidFill>
                  <a:srgbClr val="1E293B"/>
                </a:solidFill>
                <a:latin typeface="맑은 고딕"/>
              </a:defRPr>
            </a:pPr>
            <a:r>
              <a:t>• 미결 항목은 담당 부서에 질문</a:t>
            </a:r>
          </a:p>
          <a:p>
            <a:pPr>
              <a:spcBef>
                <a:spcPts val="600"/>
              </a:spcBef>
              <a:defRPr sz="1200">
                <a:solidFill>
                  <a:srgbClr val="1E293B"/>
                </a:solidFill>
                <a:latin typeface="맑은 고딕"/>
              </a:defRPr>
            </a:pPr>
            <a:r>
              <a:t>• 요구도면 v1.0 합의</a:t>
            </a:r>
          </a:p>
        </p:txBody>
      </p:sp>
      <p:sp>
        <p:nvSpPr>
          <p:cNvPr id="9" name="Rounded Rectangle 8"/>
          <p:cNvSpPr/>
          <p:nvPr/>
        </p:nvSpPr>
        <p:spPr>
          <a:xfrm>
            <a:off x="4328160" y="1371600"/>
            <a:ext cx="3505200" cy="4434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9328" y="1536192"/>
            <a:ext cx="3102864" cy="4142231"/>
          </a:xfrm>
          <a:prstGeom prst="rect">
            <a:avLst/>
          </a:prstGeom>
          <a:noFill/>
        </p:spPr>
        <p:txBody>
          <a:bodyPr wrap="square">
            <a:spAutoFit/>
          </a:bodyPr>
          <a:lstStyle/>
          <a:p>
            <a:pPr>
              <a:defRPr sz="1500" b="1">
                <a:solidFill>
                  <a:srgbClr val="2563EB"/>
                </a:solidFill>
                <a:latin typeface="맑은 고딕"/>
              </a:defRPr>
            </a:pPr>
            <a:r>
              <a:t>2주 차: 실무 병행 검산</a:t>
            </a:r>
          </a:p>
          <a:p>
            <a:pPr>
              <a:spcBef>
                <a:spcPts val="600"/>
              </a:spcBef>
              <a:defRPr sz="1200">
                <a:solidFill>
                  <a:srgbClr val="1E293B"/>
                </a:solidFill>
                <a:latin typeface="맑은 고딕"/>
              </a:defRPr>
            </a:pPr>
            <a:r>
              <a:t>• 기존 수작업 결과와 MVP 결과를 나란히 비교</a:t>
            </a:r>
          </a:p>
          <a:p>
            <a:pPr>
              <a:spcBef>
                <a:spcPts val="600"/>
              </a:spcBef>
              <a:defRPr sz="1200">
                <a:solidFill>
                  <a:srgbClr val="1E293B"/>
                </a:solidFill>
                <a:latin typeface="맑은 고딕"/>
              </a:defRPr>
            </a:pPr>
            <a:r>
              <a:t>• 불일치 건을 검사기준에 추가</a:t>
            </a:r>
          </a:p>
          <a:p>
            <a:pPr>
              <a:spcBef>
                <a:spcPts val="600"/>
              </a:spcBef>
              <a:defRPr sz="1200">
                <a:solidFill>
                  <a:srgbClr val="1E293B"/>
                </a:solidFill>
                <a:latin typeface="맑은 고딕"/>
              </a:defRPr>
            </a:pPr>
            <a:r>
              <a:t>• 합격 버전 백업</a:t>
            </a:r>
          </a:p>
        </p:txBody>
      </p:sp>
      <p:sp>
        <p:nvSpPr>
          <p:cNvPr id="11" name="Rounded Rectangle 10"/>
          <p:cNvSpPr/>
          <p:nvPr/>
        </p:nvSpPr>
        <p:spPr>
          <a:xfrm>
            <a:off x="8107680" y="1371600"/>
            <a:ext cx="3505200" cy="4434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8848" y="1536192"/>
            <a:ext cx="3102864" cy="4142231"/>
          </a:xfrm>
          <a:prstGeom prst="rect">
            <a:avLst/>
          </a:prstGeom>
          <a:noFill/>
        </p:spPr>
        <p:txBody>
          <a:bodyPr wrap="square">
            <a:spAutoFit/>
          </a:bodyPr>
          <a:lstStyle/>
          <a:p>
            <a:pPr>
              <a:defRPr sz="1500" b="1">
                <a:solidFill>
                  <a:srgbClr val="2563EB"/>
                </a:solidFill>
                <a:latin typeface="맑은 고딕"/>
              </a:defRPr>
            </a:pPr>
            <a:r>
              <a:t>이후: 문서 세트로 인계</a:t>
            </a:r>
          </a:p>
          <a:p>
            <a:pPr>
              <a:spcBef>
                <a:spcPts val="600"/>
              </a:spcBef>
              <a:defRPr sz="1200">
                <a:solidFill>
                  <a:srgbClr val="1E293B"/>
                </a:solidFill>
                <a:latin typeface="맑은 고딕"/>
              </a:defRPr>
            </a:pPr>
            <a:r>
              <a:t>• 후임자에게 파일이 아닌 문서 4장과 함께 인계</a:t>
            </a:r>
          </a:p>
          <a:p>
            <a:pPr>
              <a:spcBef>
                <a:spcPts val="600"/>
              </a:spcBef>
              <a:defRPr sz="1200">
                <a:solidFill>
                  <a:srgbClr val="1E293B"/>
                </a:solidFill>
                <a:latin typeface="맑은 고딕"/>
              </a:defRPr>
            </a:pPr>
            <a:r>
              <a:t>• IT/DX 부서 전환 시 요구사항 자료로 활용</a:t>
            </a:r>
          </a:p>
          <a:p>
            <a:pPr>
              <a:spcBef>
                <a:spcPts val="600"/>
              </a:spcBef>
              <a:defRPr sz="1200">
                <a:solidFill>
                  <a:srgbClr val="1E293B"/>
                </a:solidFill>
                <a:latin typeface="맑은 고딕"/>
              </a:defRPr>
            </a:pPr>
            <a:r>
              <a:t>• 실데이터 연동은 보안 승인 후 진행</a:t>
            </a:r>
          </a:p>
        </p:txBody>
      </p:sp>
      <p:sp>
        <p:nvSpPr>
          <p:cNvPr id="13" name="Rounded Rectangle 12"/>
          <p:cNvSpPr/>
          <p:nvPr/>
        </p:nvSpPr>
        <p:spPr>
          <a:xfrm>
            <a:off x="548640" y="5925312"/>
            <a:ext cx="11064240" cy="438912"/>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0F172A"/>
                </a:solidFill>
                <a:latin typeface="맑은 고딕"/>
              </a:defRPr>
            </a:pPr>
            <a:r>
              <a:t>💡 핵심 포인트: 현장에서 발견한 불일치 한 건이 검사기준 한 줄이 되면, 같은 불량은 다시 나오지 않습니다.</a:t>
            </a:r>
          </a:p>
        </p:txBody>
      </p:sp>
      <p:sp>
        <p:nvSpPr>
          <p:cNvPr id="14" name="TextBox 13"/>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01168"/>
            <a:ext cx="219456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맑은 고딕"/>
              </a:defRPr>
            </a:pPr>
            <a:r>
              <a:t>참고 자료</a:t>
            </a:r>
          </a:p>
        </p:txBody>
      </p:sp>
      <p:sp>
        <p:nvSpPr>
          <p:cNvPr id="5" name="TextBox 4"/>
          <p:cNvSpPr txBox="1"/>
          <p:nvPr/>
        </p:nvSpPr>
        <p:spPr>
          <a:xfrm>
            <a:off x="548640" y="502920"/>
            <a:ext cx="10972800" cy="548640"/>
          </a:xfrm>
          <a:prstGeom prst="rect">
            <a:avLst/>
          </a:prstGeom>
          <a:noFill/>
        </p:spPr>
        <p:txBody>
          <a:bodyPr wrap="square">
            <a:spAutoFit/>
          </a:bodyPr>
          <a:lstStyle/>
          <a:p>
            <a:pPr>
              <a:defRPr sz="2200" b="1">
                <a:solidFill>
                  <a:srgbClr val="FFFFFF"/>
                </a:solidFill>
                <a:latin typeface="맑은 고딕"/>
              </a:defRPr>
            </a:pPr>
            <a:r>
              <a:t>참고 자료 및 수치 근거</a:t>
            </a:r>
          </a:p>
        </p:txBody>
      </p:sp>
      <p:sp>
        <p:nvSpPr>
          <p:cNvPr id="6" name="TextBox 5"/>
          <p:cNvSpPr txBox="1"/>
          <p:nvPr/>
        </p:nvSpPr>
        <p:spPr>
          <a:xfrm>
            <a:off x="2880360" y="201168"/>
            <a:ext cx="8686800" cy="292608"/>
          </a:xfrm>
          <a:prstGeom prst="rect">
            <a:avLst/>
          </a:prstGeom>
          <a:noFill/>
        </p:spPr>
        <p:txBody>
          <a:bodyPr wrap="none">
            <a:spAutoFit/>
          </a:bodyPr>
          <a:lstStyle/>
          <a:p>
            <a:pPr>
              <a:defRPr sz="1150">
                <a:solidFill>
                  <a:srgbClr val="94A3B8"/>
                </a:solidFill>
                <a:latin typeface="맑은 고딕"/>
              </a:defRPr>
            </a:pPr>
            <a:r>
              <a:t>교육 시점에 도구 동작이 달라질 수 있으므로 강의 전 공식 문서를 다시 확인합니다</a:t>
            </a:r>
          </a:p>
        </p:txBody>
      </p:sp>
      <p:graphicFrame>
        <p:nvGraphicFramePr>
          <p:cNvPr id="7" name="Table 6"/>
          <p:cNvGraphicFramePr>
            <a:graphicFrameLocks noGrp="1"/>
          </p:cNvGraphicFramePr>
          <p:nvPr/>
        </p:nvGraphicFramePr>
        <p:xfrm>
          <a:off x="548640" y="1417320"/>
          <a:ext cx="11064240" cy="4663440"/>
        </p:xfrm>
        <a:graphic>
          <a:graphicData uri="http://schemas.openxmlformats.org/drawingml/2006/table">
            <a:tbl>
              <a:tblPr firstRow="1" bandRow="1">
                <a:tableStyleId>{5C22544A-7EE6-4342-B048-85BDC9FD1C3A}</a:tableStyleId>
              </a:tblPr>
              <a:tblGrid>
                <a:gridCol w="3688080"/>
                <a:gridCol w="3688080"/>
                <a:gridCol w="3688080"/>
              </a:tblGrid>
              <a:tr h="777240">
                <a:tc>
                  <a:txBody>
                    <a:bodyPr/>
                    <a:lstStyle/>
                    <a:p>
                      <a:pPr>
                        <a:defRPr sz="1150" b="1">
                          <a:solidFill>
                            <a:srgbClr val="FFFFFF"/>
                          </a:solidFill>
                          <a:latin typeface="맑은 고딕"/>
                        </a:defRPr>
                      </a:pPr>
                      <a:r>
                        <a:t>구분</a:t>
                      </a:r>
                    </a:p>
                  </a:txBody>
                  <a:tcPr>
                    <a:solidFill>
                      <a:srgbClr val="0F172A"/>
                    </a:solidFill>
                  </a:tcPr>
                </a:tc>
                <a:tc>
                  <a:txBody>
                    <a:bodyPr/>
                    <a:lstStyle/>
                    <a:p>
                      <a:pPr>
                        <a:defRPr sz="1150" b="1">
                          <a:solidFill>
                            <a:srgbClr val="FFFFFF"/>
                          </a:solidFill>
                          <a:latin typeface="맑은 고딕"/>
                        </a:defRPr>
                      </a:pPr>
                      <a:r>
                        <a:t>출처</a:t>
                      </a:r>
                    </a:p>
                  </a:txBody>
                  <a:tcPr>
                    <a:solidFill>
                      <a:srgbClr val="0F172A"/>
                    </a:solidFill>
                  </a:tcPr>
                </a:tc>
                <a:tc>
                  <a:txBody>
                    <a:bodyPr/>
                    <a:lstStyle/>
                    <a:p>
                      <a:pPr>
                        <a:defRPr sz="1150" b="1">
                          <a:solidFill>
                            <a:srgbClr val="FFFFFF"/>
                          </a:solidFill>
                          <a:latin typeface="맑은 고딕"/>
                        </a:defRPr>
                      </a:pPr>
                      <a:r>
                        <a:t>사용 위치</a:t>
                      </a:r>
                    </a:p>
                  </a:txBody>
                  <a:tcPr>
                    <a:solidFill>
                      <a:srgbClr val="0F172A"/>
                    </a:solidFill>
                  </a:tcPr>
                </a:tc>
              </a:tr>
              <a:tr h="777240">
                <a:tc>
                  <a:txBody>
                    <a:bodyPr/>
                    <a:lstStyle/>
                    <a:p>
                      <a:pPr>
                        <a:defRPr sz="1100" b="1">
                          <a:solidFill>
                            <a:srgbClr val="1E293B"/>
                          </a:solidFill>
                          <a:latin typeface="맑은 고딕"/>
                        </a:defRPr>
                      </a:pPr>
                      <a:r>
                        <a:t>공식 문서</a:t>
                      </a:r>
                    </a:p>
                  </a:txBody>
                  <a:tcPr>
                    <a:solidFill>
                      <a:srgbClr val="FFFFFF"/>
                    </a:solidFill>
                  </a:tcPr>
                </a:tc>
                <a:tc>
                  <a:txBody>
                    <a:bodyPr/>
                    <a:lstStyle/>
                    <a:p>
                      <a:pPr>
                        <a:defRPr sz="1100" b="0">
                          <a:solidFill>
                            <a:srgbClr val="1E293B"/>
                          </a:solidFill>
                          <a:latin typeface="맑은 고딕"/>
                        </a:defRPr>
                      </a:pPr>
                      <a:r>
                        <a:t>Claude Code Docs, How Claude remembers your project (code.claude.com/docs/en/memory)</a:t>
                      </a:r>
                    </a:p>
                  </a:txBody>
                  <a:tcPr>
                    <a:solidFill>
                      <a:srgbClr val="FFFFFF"/>
                    </a:solidFill>
                  </a:tcPr>
                </a:tc>
                <a:tc>
                  <a:txBody>
                    <a:bodyPr/>
                    <a:lstStyle/>
                    <a:p>
                      <a:pPr>
                        <a:defRPr sz="1100" b="0">
                          <a:solidFill>
                            <a:srgbClr val="1E293B"/>
                          </a:solidFill>
                          <a:latin typeface="맑은 고딕"/>
                        </a:defRPr>
                      </a:pPr>
                      <a:r>
                        <a:t>작업표준 정비 기준</a:t>
                      </a:r>
                    </a:p>
                  </a:txBody>
                  <a:tcPr>
                    <a:solidFill>
                      <a:srgbClr val="FFFFFF"/>
                    </a:solidFill>
                  </a:tcPr>
                </a:tc>
              </a:tr>
              <a:tr h="777240">
                <a:tc>
                  <a:txBody>
                    <a:bodyPr/>
                    <a:lstStyle/>
                    <a:p>
                      <a:pPr>
                        <a:defRPr sz="1100" b="1">
                          <a:solidFill>
                            <a:srgbClr val="1E293B"/>
                          </a:solidFill>
                          <a:latin typeface="맑은 고딕"/>
                        </a:defRPr>
                      </a:pPr>
                      <a:r>
                        <a:t>공식 문서</a:t>
                      </a:r>
                    </a:p>
                  </a:txBody>
                  <a:tcPr>
                    <a:solidFill>
                      <a:srgbClr val="F1F5F9"/>
                    </a:solidFill>
                  </a:tcPr>
                </a:tc>
                <a:tc>
                  <a:txBody>
                    <a:bodyPr/>
                    <a:lstStyle/>
                    <a:p>
                      <a:pPr>
                        <a:defRPr sz="1100" b="0">
                          <a:solidFill>
                            <a:srgbClr val="1E293B"/>
                          </a:solidFill>
                          <a:latin typeface="맑은 고딕"/>
                        </a:defRPr>
                      </a:pPr>
                      <a:r>
                        <a:t>Claude Code Docs, Checkpointing (code.claude.com/docs/en/checkpointing)</a:t>
                      </a:r>
                    </a:p>
                  </a:txBody>
                  <a:tcPr>
                    <a:solidFill>
                      <a:srgbClr val="F1F5F9"/>
                    </a:solidFill>
                  </a:tcPr>
                </a:tc>
                <a:tc>
                  <a:txBody>
                    <a:bodyPr/>
                    <a:lstStyle/>
                    <a:p>
                      <a:pPr>
                        <a:defRPr sz="1100" b="0">
                          <a:solidFill>
                            <a:srgbClr val="1E293B"/>
                          </a:solidFill>
                          <a:latin typeface="맑은 고딕"/>
                        </a:defRPr>
                      </a:pPr>
                      <a:r>
                        <a:t>되돌리기, 복원 범위와 한계</a:t>
                      </a:r>
                    </a:p>
                  </a:txBody>
                  <a:tcPr>
                    <a:solidFill>
                      <a:srgbClr val="F1F5F9"/>
                    </a:solidFill>
                  </a:tcPr>
                </a:tc>
              </a:tr>
              <a:tr h="777240">
                <a:tc>
                  <a:txBody>
                    <a:bodyPr/>
                    <a:lstStyle/>
                    <a:p>
                      <a:pPr>
                        <a:defRPr sz="1100" b="1">
                          <a:solidFill>
                            <a:srgbClr val="1E293B"/>
                          </a:solidFill>
                          <a:latin typeface="맑은 고딕"/>
                        </a:defRPr>
                      </a:pPr>
                      <a:r>
                        <a:t>공식 문서</a:t>
                      </a:r>
                    </a:p>
                  </a:txBody>
                  <a:tcPr>
                    <a:solidFill>
                      <a:srgbClr val="FFFFFF"/>
                    </a:solidFill>
                  </a:tcPr>
                </a:tc>
                <a:tc>
                  <a:txBody>
                    <a:bodyPr/>
                    <a:lstStyle/>
                    <a:p>
                      <a:pPr>
                        <a:defRPr sz="1100" b="0">
                          <a:solidFill>
                            <a:srgbClr val="1E293B"/>
                          </a:solidFill>
                          <a:latin typeface="맑은 고딕"/>
                        </a:defRPr>
                      </a:pPr>
                      <a:r>
                        <a:t>Claude Code Docs, Best practices (code.claude.com/docs/en/best-practices)</a:t>
                      </a:r>
                    </a:p>
                  </a:txBody>
                  <a:tcPr>
                    <a:solidFill>
                      <a:srgbClr val="FFFFFF"/>
                    </a:solidFill>
                  </a:tcPr>
                </a:tc>
                <a:tc>
                  <a:txBody>
                    <a:bodyPr/>
                    <a:lstStyle/>
                    <a:p>
                      <a:pPr>
                        <a:defRPr sz="1100" b="0">
                          <a:solidFill>
                            <a:srgbClr val="1E293B"/>
                          </a:solidFill>
                          <a:latin typeface="맑은 고딕"/>
                        </a:defRPr>
                      </a:pPr>
                      <a:r>
                        <a:t>Esc 중단, /clear 재시작</a:t>
                      </a:r>
                    </a:p>
                  </a:txBody>
                  <a:tcPr>
                    <a:solidFill>
                      <a:srgbClr val="FFFFFF"/>
                    </a:solidFill>
                  </a:tcPr>
                </a:tc>
              </a:tr>
              <a:tr h="777240">
                <a:tc>
                  <a:txBody>
                    <a:bodyPr/>
                    <a:lstStyle/>
                    <a:p>
                      <a:pPr>
                        <a:defRPr sz="1100" b="1">
                          <a:solidFill>
                            <a:srgbClr val="1E293B"/>
                          </a:solidFill>
                          <a:latin typeface="맑은 고딕"/>
                        </a:defRPr>
                      </a:pPr>
                      <a:r>
                        <a:t>과정 자료</a:t>
                      </a:r>
                    </a:p>
                  </a:txBody>
                  <a:tcPr>
                    <a:solidFill>
                      <a:srgbClr val="F1F5F9"/>
                    </a:solidFill>
                  </a:tcPr>
                </a:tc>
                <a:tc>
                  <a:txBody>
                    <a:bodyPr/>
                    <a:lstStyle/>
                    <a:p>
                      <a:pPr>
                        <a:defRPr sz="1100" b="0">
                          <a:solidFill>
                            <a:srgbClr val="1E293B"/>
                          </a:solidFill>
                          <a:latin typeface="맑은 고딕"/>
                        </a:defRPr>
                      </a:pPr>
                      <a:r>
                        <a:t>04_세일즈_스마트견적_및_마진시뮬레이터 index.html, product_price_sample.csv</a:t>
                      </a:r>
                    </a:p>
                  </a:txBody>
                  <a:tcPr>
                    <a:solidFill>
                      <a:srgbClr val="F1F5F9"/>
                    </a:solidFill>
                  </a:tcPr>
                </a:tc>
                <a:tc>
                  <a:txBody>
                    <a:bodyPr/>
                    <a:lstStyle/>
                    <a:p>
                      <a:pPr>
                        <a:defRPr sz="1100" b="0">
                          <a:solidFill>
                            <a:srgbClr val="1E293B"/>
                          </a:solidFill>
                          <a:latin typeface="맑은 고딕"/>
                        </a:defRPr>
                      </a:pPr>
                      <a:r>
                        <a:t>사례의 모든 수치 (합성 데이터 기준 직접 계산)</a:t>
                      </a:r>
                    </a:p>
                  </a:txBody>
                  <a:tcPr>
                    <a:solidFill>
                      <a:srgbClr val="F1F5F9"/>
                    </a:solidFill>
                  </a:tcPr>
                </a:tc>
              </a:tr>
              <a:tr h="777240">
                <a:tc>
                  <a:txBody>
                    <a:bodyPr/>
                    <a:lstStyle/>
                    <a:p>
                      <a:pPr>
                        <a:defRPr sz="1100" b="1">
                          <a:solidFill>
                            <a:srgbClr val="1E293B"/>
                          </a:solidFill>
                          <a:latin typeface="맑은 고딕"/>
                        </a:defRPr>
                      </a:pPr>
                      <a:r>
                        <a:t>교육용 가정</a:t>
                      </a:r>
                    </a:p>
                  </a:txBody>
                  <a:tcPr>
                    <a:solidFill>
                      <a:srgbClr val="FFFFFF"/>
                    </a:solidFill>
                  </a:tcPr>
                </a:tc>
                <a:tc>
                  <a:txBody>
                    <a:bodyPr/>
                    <a:lstStyle/>
                    <a:p>
                      <a:pPr>
                        <a:defRPr sz="1100" b="0">
                          <a:solidFill>
                            <a:srgbClr val="1E293B"/>
                          </a:solidFill>
                          <a:latin typeface="맑은 고딕"/>
                        </a:defRPr>
                      </a:pPr>
                      <a:r>
                        <a:t>판정표 A~D, TEST-01·02, PLC-900M 변경 통보</a:t>
                      </a:r>
                    </a:p>
                  </a:txBody>
                  <a:tcPr>
                    <a:solidFill>
                      <a:srgbClr val="FFFFFF"/>
                    </a:solidFill>
                  </a:tcPr>
                </a:tc>
                <a:tc>
                  <a:txBody>
                    <a:bodyPr/>
                    <a:lstStyle/>
                    <a:p>
                      <a:pPr>
                        <a:defRPr sz="1100" b="0">
                          <a:solidFill>
                            <a:srgbClr val="1E293B"/>
                          </a:solidFill>
                          <a:latin typeface="맑은 고딕"/>
                        </a:defRPr>
                      </a:pPr>
                      <a:r>
                        <a:t>실제 규정이 아닌 실습용 가상 설정</a:t>
                      </a:r>
                    </a:p>
                  </a:txBody>
                  <a:tcPr>
                    <a:solidFill>
                      <a:srgbClr val="FFFFFF"/>
                    </a:solidFill>
                  </a:tcPr>
                </a:tc>
              </a:tr>
            </a:tbl>
          </a:graphicData>
        </a:graphic>
      </p:graphicFrame>
      <p:sp>
        <p:nvSpPr>
          <p:cNvPr id="8" name="TextBox 7"/>
          <p:cNvSpPr txBox="1"/>
          <p:nvPr/>
        </p:nvSpPr>
        <p:spPr>
          <a:xfrm>
            <a:off x="548640" y="6446520"/>
            <a:ext cx="11064240" cy="320040"/>
          </a:xfrm>
          <a:prstGeom prst="rect">
            <a:avLst/>
          </a:prstGeom>
          <a:noFill/>
        </p:spPr>
        <p:txBody>
          <a:bodyPr wrap="none">
            <a:spAutoFit/>
          </a:bodyPr>
          <a:lstStyle/>
          <a:p>
            <a:pPr algn="r">
              <a:defRPr sz="950">
                <a:solidFill>
                  <a:srgbClr val="64748B"/>
                </a:solidFill>
                <a:latin typeface="맑은 고딕"/>
              </a:defRPr>
            </a:pPr>
            <a:r>
              <a:t>대기업 제조사 AX 핵심인재 양성 교육 (Claude Code 바이브코딩 PBL)  |  심화 모듈 · 공장의 품질관리로 만드는 바이브코딩  |  Slide 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