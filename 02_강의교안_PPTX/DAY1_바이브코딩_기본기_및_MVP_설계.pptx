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강사 오프닝: 1일차 사전 교육에서 완료한 환경 세팅과 기획서 초안을 바탕으로, 오늘부터 실제 작동하는 나만의 업무용 소프트웨어를 만듭니다.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463040"/>
            <a:ext cx="109728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0A5FA"/>
                </a:solidFill>
                <a:latin typeface="맑은 고딕"/>
              </a:defRPr>
            </a:pPr>
            <a:r>
              <a:t>DAY 1 · 2026. 11. 02 (월) 13:00–18:00 (5H)</a:t>
            </a:r>
          </a:p>
          <a:p>
            <a:pPr>
              <a:spcBef>
                <a:spcPts val="1200"/>
              </a:spcBef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바이브코딩 기본기 및 현업 MVP 설계</a:t>
            </a:r>
          </a:p>
          <a:p>
            <a:pPr>
              <a:spcBef>
                <a:spcPts val="1600"/>
              </a:spcBef>
              <a:defRPr sz="1800">
                <a:solidFill>
                  <a:srgbClr val="CBD5E1"/>
                </a:solidFill>
                <a:latin typeface="맑은 고딕"/>
              </a:defRPr>
            </a:pPr>
            <a:r>
              <a:t>현업 과제 구체화 → Claude Code 실전 워크플로우 → 첫 번째 동작하는 MVP(v1) 구현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663440"/>
            <a:ext cx="2560320" cy="1325880"/>
          </a:xfrm>
          <a:prstGeom prst="round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0A5FA"/>
                </a:solidFill>
                <a:latin typeface="맑은 고딕"/>
              </a:defRPr>
            </a:pPr>
            <a:r>
              <a:t>교육 대상</a:t>
            </a:r>
          </a:p>
          <a:p>
            <a:pPr>
              <a:spcBef>
                <a:spcPts val="600"/>
              </a:spcBef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전략기획·재무·마케팅·세일즈</a:t>
            </a:r>
            <a:br/>
            <a:r>
              <a:t>과장급 핵심인재 20명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4663440"/>
            <a:ext cx="2560320" cy="1325880"/>
          </a:xfrm>
          <a:prstGeom prst="round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0A5FA"/>
                </a:solidFill>
                <a:latin typeface="맑은 고딕"/>
              </a:defRPr>
            </a:pPr>
            <a:r>
              <a:t>핵심 도구</a:t>
            </a:r>
          </a:p>
          <a:p>
            <a:pPr>
              <a:spcBef>
                <a:spcPts val="600"/>
              </a:spcBef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Claude Code · 로컬 웹앱</a:t>
            </a:r>
            <a:br/>
            <a:r>
              <a:t>Google Colab · CSV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663440"/>
            <a:ext cx="2560320" cy="1325880"/>
          </a:xfrm>
          <a:prstGeom prst="round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0A5FA"/>
                </a:solidFill>
                <a:latin typeface="맑은 고딕"/>
              </a:defRPr>
            </a:pPr>
            <a:r>
              <a:t>오늘의 목표</a:t>
            </a:r>
          </a:p>
          <a:p>
            <a:pPr>
              <a:spcBef>
                <a:spcPts val="600"/>
              </a:spcBef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핵심 기능 1~2개 확정 및</a:t>
            </a:r>
            <a:br/>
            <a:r>
              <a:t>첫 동작 MVP 화면 완성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4663440"/>
            <a:ext cx="2560320" cy="1325880"/>
          </a:xfrm>
          <a:prstGeom prst="round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0A5FA"/>
                </a:solidFill>
                <a:latin typeface="맑은 고딕"/>
              </a:defRPr>
            </a:pPr>
            <a:r>
              <a:t>멘토링 방식</a:t>
            </a:r>
          </a:p>
          <a:p>
            <a:pPr>
              <a:spcBef>
                <a:spcPts val="600"/>
              </a:spcBef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5개 조 × 10분 순회 코칭</a:t>
            </a:r>
            <a:br/>
            <a:r>
              <a:t>과제 범위(Scope) 확정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201168"/>
            <a:ext cx="2194560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DAY 1 타임테이블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오늘의 학습 일정 및 핵심 산출물 (13:00 ~ 18:00)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360" y="201168"/>
            <a:ext cx="8686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94A3B8"/>
                </a:solidFill>
                <a:latin typeface="맑은 고딕"/>
              </a:defRPr>
            </a:pPr>
            <a:r>
              <a:t>이론은 압축하고 실습과 코칭으로 내 화면에 첫 MVP를 띄웁니다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17320"/>
          <a:ext cx="1106424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58293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시간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세션명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주요 학습 및 실습 활동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진행 방식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13:00–13:30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1. AX와 바이브코딩의 이해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질문하는 AI vs 도구를 만드는 AI, 제조기업 직무별 MVP 사례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강의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13:30–14:10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2. Claude Code 실전 활용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CLAUDE.md 헌장, Plan 모드(Shift+Tab), 파일 생성·실행·복구 데모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시연·실습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14:10–15:00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3. 과제 정의서 &amp; MVP 범위 설정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기획서 초안 다이어트, Input-Process-Output 정의, 핵심 기능 1~2개 확정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워크숍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15:00–15:10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휴식 (Break)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환경 점검 및 개별 질의응답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휴식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15:10–16:00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4. 개발 프롬프트 엔지니어링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역할·맥락·입출력·제약조건 구조화, 3단계 분할 지시 실습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실습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16:00–17:10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5. 1차 MVP 프로토타입 구현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화면 레이아웃 + 가명 샘플 CSV + 1번 핵심 기능 연결 및 실행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PBL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17:10–18:00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6. 조별 순회 코칭 (조당 10분)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5개 조 순회 점검, 초기 오류 해결, 최종 MVP 범위 확정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코칭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  <a:latin typeface="맑은 고딕"/>
              </a:defRPr>
            </a:pPr>
            <a:r>
              <a:t>대기업 제조사 AX 핵심인재 양성 교육 (Claude Code 바이브코딩 PBL)  |  DAY 1 (11/2 월) 바이브코딩 기본기 및 MVP 설계  |  Slide 2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201168"/>
            <a:ext cx="2194560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Session 1 · AX 패러다임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챗봇 활용(Chat)과 바이브코딩(Tool Building)의 결정적 차이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360" y="201168"/>
            <a:ext cx="8686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94A3B8"/>
                </a:solidFill>
                <a:latin typeface="맑은 고딕"/>
              </a:defRPr>
            </a:pPr>
            <a:r>
              <a:t>매번 프롬프트를 다시 치는 대신, 클릭 한 번에 끝나는 '전용 업무 도구'를 만듭니다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5394959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536192"/>
            <a:ext cx="4992623" cy="4142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  <a:latin typeface="맑은 고딕"/>
              </a:defRPr>
            </a:pPr>
            <a:r>
              <a:t>기존 방식: 대화형 AI (ChatGPT/Claude 웹)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매월 마감 때마다 같은 프롬프트를 다시 입력하고 설명해야 함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대용량 엑셀/CSV 계산 시 할루시네이션(계산 실수) 발생 우려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나만 쓸 수 있고 팀원이나 후임자에게 업무 표준으로 인계하기 어려움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19" y="1371600"/>
            <a:ext cx="5394959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7" y="1536192"/>
            <a:ext cx="4992623" cy="4142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  <a:latin typeface="맑은 고딕"/>
              </a:defRPr>
            </a:pPr>
            <a:r>
              <a:t>바이브코딩: AI와 함께 만드는 업무용 웹 도구 (MVP)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계산 수식과 규칙을 코드로 고정해 언제나 100% 동일한 정확도 보장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CSV 파일만 올리면 1초 만에 표·차트·요약 보고서가 동시에 생성됨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`index.html` 파일 하나로 부서 동료 누구나 설명 없이 즉시 사용 가능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925312"/>
            <a:ext cx="11064240" cy="438912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0F172A"/>
                </a:solidFill>
                <a:latin typeface="맑은 고딕"/>
              </a:defRPr>
            </a:pPr>
            <a:r>
              <a:t>💡 핵심 포인트: 비전공자인 우리가 가장 잘 아는 '현업의 업무 규칙과 페인포인트'가 최고의 설계도입니다.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  <a:latin typeface="맑은 고딕"/>
              </a:defRPr>
            </a:pPr>
            <a:r>
              <a:t>대기업 제조사 AX 핵심인재 양성 교육 (Claude Code 바이브코딩 PBL)  |  DAY 1 (11/2 월) 바이브코딩 기본기 및 MVP 설계  |  Slide 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201168"/>
            <a:ext cx="2194560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Session 1 · 직무별 사례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제조 대기업 4대 직무별 바이브코딩 MVP 성공 패턴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360" y="201168"/>
            <a:ext cx="8686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94A3B8"/>
                </a:solidFill>
                <a:latin typeface="맑은 고딕"/>
              </a:defRPr>
            </a:pPr>
            <a:r>
              <a:t>백엔드 서버나 ERP 직접 연동 없이도 현업 시간을 80% 줄이는 로컬 웹 도구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5394959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536192"/>
            <a:ext cx="4992623" cy="18105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  <a:latin typeface="맑은 고딕"/>
              </a:defRPr>
            </a:pPr>
            <a:r>
              <a:t>① 전략기획: 전사 경영 KPI 브리핑 보드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입력: 사업부별 월간 실적 CSV (목표, 실적, 전월비)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핵심 기능: 달성률 자동 계산 + 신호등(정상/주의/위험) 판정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출력: 미달성 지표 중심 임원 보고용 3줄 요약 자동 생성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19" y="1371600"/>
            <a:ext cx="5394959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7" y="1536192"/>
            <a:ext cx="4992623" cy="18105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  <a:latin typeface="맑은 고딕"/>
              </a:defRPr>
            </a:pPr>
            <a:r>
              <a:t>② 재무/회계: 예산 대비 실적(BVA) 이상 탐지기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입력: 부서별·계정별 예산 및 실집행 내역 CSV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핵심 기능: 편차 금액·소진율(%) 산출 및 100% 초과 항목 적색 강조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출력: 초과 집행 부서 필터링 및 소명 요청 대상 CSV 다운로드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703320"/>
            <a:ext cx="5394959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867912"/>
            <a:ext cx="4992623" cy="18105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  <a:latin typeface="맑은 고딕"/>
              </a:defRPr>
            </a:pPr>
            <a:r>
              <a:t>③ 마케팅: B2B 캠페인 ROI &amp; ROAS 비교기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입력: 채널별 광고비, 클릭수, 발굴 리드수, 수주전환 매출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핵심 기능: CTR, CPL(리드당 비용), ROAS(%) 자동 계산 및 순위 차트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출력: 저효율 캠페인 경보 및 차월 예산 재배분 시뮬레이션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19" y="3703320"/>
            <a:ext cx="5394959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7" y="3867912"/>
            <a:ext cx="4992623" cy="18105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  <a:latin typeface="맑은 고딕"/>
              </a:defRPr>
            </a:pPr>
            <a:r>
              <a:t>④ 세일즈: 스마트 견적 산출 &amp; 마진 검증기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입력: 제품 단가표 CSV + 수량·적용 할인율 슬라이더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핵심 기능: 할인 적용 공급가 및 예상 마진율(%) 실시간 계산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출력: 최소 승인 마진 미달 경고 + 고객 제출용 표준 견적서 인쇄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925312"/>
            <a:ext cx="11064240" cy="438912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0F172A"/>
                </a:solidFill>
                <a:latin typeface="맑은 고딕"/>
              </a:defRPr>
            </a:pPr>
            <a:r>
              <a:t>💡 핵심 포인트: 4가지 사례 모두 [CSV/폼 입력 → 자동 계산 및 이상 탐지 → 차트/보고서 출력]의 깔끔한 구조를 따릅니다.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  <a:latin typeface="맑은 고딕"/>
              </a:defRPr>
            </a:pPr>
            <a:r>
              <a:t>대기업 제조사 AX 핵심인재 양성 교육 (Claude Code 바이브코딩 PBL)  |  DAY 1 (11/2 월) 바이브코딩 기본기 및 MVP 설계  |  Slide 4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201168"/>
            <a:ext cx="2194560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Session 2 · Claude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Claude Code 실전 활용 3대 핵심 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360" y="201168"/>
            <a:ext cx="8686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94A3B8"/>
                </a:solidFill>
                <a:latin typeface="맑은 고딕"/>
              </a:defRPr>
            </a:pPr>
            <a:r>
              <a:t>비전공자가 길을 잃지 않고 안전하게 개발하는 작업 루틴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35052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536192"/>
            <a:ext cx="3102864" cy="4142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  <a:latin typeface="맑은 고딕"/>
              </a:defRPr>
            </a:pPr>
            <a:r>
              <a:t>1. 프로젝트 헌장: CLAUDE.md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폴더 최상단에 위치하는 'AI 전용 업무 매뉴얼'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기술 제약(단일 HTML, 한글 인코딩, 서버 미사용)을 미리 못 박음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대화가 길어져도 AI가 프로젝트 규칙과 컬럼 구조를 잊지 않음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8160" y="1371600"/>
            <a:ext cx="35052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9328" y="1536192"/>
            <a:ext cx="3102864" cy="4142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  <a:latin typeface="맑은 고딕"/>
              </a:defRPr>
            </a:pPr>
            <a:r>
              <a:t>2. 설계부터 하는 습관: Plan 모드 (Shift+Tab)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곧바로 코드를 짜게 하면 엉뚱한 화면이 나올 확률이 높음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Plan 모드에서 먼저 '화면 구성과 3단계 개발 순서'를 제안받음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내가 이해할 수 있는 계획인지 확인 후 승인(Approve)하여 구현 시작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7680" y="1371600"/>
            <a:ext cx="35052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8848" y="1536192"/>
            <a:ext cx="3102864" cy="4142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  <a:latin typeface="맑은 고딕"/>
              </a:defRPr>
            </a:pPr>
            <a:r>
              <a:t>3. 작은 단위 반복: 단계별 구현 &amp; 즉시 확인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1단계: 기본 화면 레이아웃 + 내장 샘플 데이터 표 출력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2단계: 핵심 계산 수식 + 필터/차트 연결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3단계: CSV 업로드/다운로드 및 요약 브리핑 다듬기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925312"/>
            <a:ext cx="11064240" cy="438912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0F172A"/>
                </a:solidFill>
                <a:latin typeface="맑은 고딕"/>
              </a:defRPr>
            </a:pPr>
            <a:r>
              <a:t>💡 핵심 포인트: 한 번에 완벽한 프로그램을 만들려 하지 말고, 매 단계 브라우저(F5)로 눈으로 확인하며 전진하세요.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  <a:latin typeface="맑은 고딕"/>
              </a:defRPr>
            </a:pPr>
            <a:r>
              <a:t>대기업 제조사 AX 핵심인재 양성 교육 (Claude Code 바이브코딩 PBL)  |  DAY 1 (11/2 월) 바이브코딩 기본기 및 MVP 설계  |  Slide 5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201168"/>
            <a:ext cx="2194560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Session 2 · 라이브 데모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[시연] 영업 실적 분석 대시보드 15분 만에 만들기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360" y="201168"/>
            <a:ext cx="8686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94A3B8"/>
                </a:solidFill>
                <a:latin typeface="맑은 고딕"/>
              </a:defRPr>
            </a:pPr>
            <a:r>
              <a:t>강사 시연을 통해 Plan 모드 → CLAUDE.md 생성 → 1차 화면 실행 흐름을 함께 봅니다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411480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3749039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  <a:latin typeface="맑은 고딕"/>
              </a:defRPr>
            </a:pPr>
            <a:r>
              <a:t>시연 관전 포인트 4가지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맑은 고딕"/>
              </a:defRPr>
            </a:pPr>
            <a:r>
              <a:t>✔ 사내 실데이터 대신 '가상의 샘플 CSV 12행'을 먼저 만들게 지시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맑은 고딕"/>
              </a:defRPr>
            </a:pPr>
            <a:r>
              <a:t>✔ 로컬 더블클릭 시 빈 화면이 뜨지 않도록 기본 데이터를 내장 요청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맑은 고딕"/>
              </a:defRPr>
            </a:pPr>
            <a:r>
              <a:t>✔ 목표 대비 달성률 95% 미만 항목을 빨간색으로 자동 강조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맑은 고딕"/>
              </a:defRPr>
            </a:pPr>
            <a:r>
              <a:t>✔ 우측 하단에 임원 보고용 3줄 요약 문구 자동 생성 기능 탑재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92040" y="1371600"/>
            <a:ext cx="6720840" cy="48463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74920" y="1508760"/>
            <a:ext cx="6355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60A5FA"/>
                </a:solidFill>
                <a:latin typeface="맑은 고딕"/>
              </a:defRPr>
            </a:pPr>
            <a:r>
              <a:t>📋 데모 프롬프트 (00_공통예제_영업실적_대시보드)</a:t>
            </a:r>
          </a:p>
          <a:p>
            <a:pPr>
              <a:spcBef>
                <a:spcPts val="300"/>
              </a:spcBef>
              <a:defRPr sz="1100">
                <a:solidFill>
                  <a:srgbClr val="F1F5F9"/>
                </a:solidFill>
                <a:latin typeface="맑은 고딕"/>
              </a:defRPr>
            </a:pPr>
            <a:r>
              <a:t>당신은 제조기업 영업관리 자동화 전문가이자 웹 개발자입니다.</a:t>
            </a:r>
          </a:p>
          <a:p>
            <a:pPr>
              <a:spcBef>
                <a:spcPts val="300"/>
              </a:spcBef>
              <a:defRPr sz="1100">
                <a:solidFill>
                  <a:srgbClr val="F1F5F9"/>
                </a:solidFill>
                <a:latin typeface="맑은 고딕"/>
              </a:defRPr>
            </a:pPr>
          </a:p>
          <a:p>
            <a:pPr>
              <a:spcBef>
                <a:spcPts val="300"/>
              </a:spcBef>
              <a:defRPr sz="1100">
                <a:solidFill>
                  <a:srgbClr val="F1F5F9"/>
                </a:solidFill>
                <a:latin typeface="맑은 고딕"/>
              </a:defRPr>
            </a:pPr>
            <a:r>
              <a:t>[목표] 서버 없이 index.html만 열면 작동하는 영업 실적 대시보드 제작</a:t>
            </a:r>
          </a:p>
          <a:p>
            <a:pPr>
              <a:spcBef>
                <a:spcPts val="300"/>
              </a:spcBef>
              <a:defRPr sz="1100">
                <a:solidFill>
                  <a:srgbClr val="F1F5F9"/>
                </a:solidFill>
                <a:latin typeface="맑은 고딕"/>
              </a:defRPr>
            </a:pPr>
            <a:r>
              <a:t>[데이터] 연월, 지역본부, 제품군, 목표매출, 실적매출, 전년동월</a:t>
            </a:r>
          </a:p>
          <a:p>
            <a:pPr>
              <a:spcBef>
                <a:spcPts val="300"/>
              </a:spcBef>
              <a:defRPr sz="1100">
                <a:solidFill>
                  <a:srgbClr val="F1F5F9"/>
                </a:solidFill>
                <a:latin typeface="맑은 고딕"/>
              </a:defRPr>
            </a:pPr>
            <a:r>
              <a:t>[핵심 기능]</a:t>
            </a:r>
          </a:p>
          <a:p>
            <a:pPr>
              <a:spcBef>
                <a:spcPts val="300"/>
              </a:spcBef>
              <a:defRPr sz="1100">
                <a:solidFill>
                  <a:srgbClr val="F1F5F9"/>
                </a:solidFill>
                <a:latin typeface="맑은 고딕"/>
              </a:defRPr>
            </a:pPr>
            <a:r>
              <a:t>1. 페이지 오픈 시 기본 샘플 데이터로 KPI 카드 4개와 표·차트 즉시 표시</a:t>
            </a:r>
          </a:p>
          <a:p>
            <a:pPr>
              <a:spcBef>
                <a:spcPts val="300"/>
              </a:spcBef>
              <a:defRPr sz="1100">
                <a:solidFill>
                  <a:srgbClr val="F1F5F9"/>
                </a:solidFill>
                <a:latin typeface="맑은 고딕"/>
              </a:defRPr>
            </a:pPr>
            <a:r>
              <a:t>2. 새로운 CSV 업로드(UTF-8/EUC-KR 자동 호환) 및 필터링 기능</a:t>
            </a:r>
          </a:p>
          <a:p>
            <a:pPr>
              <a:spcBef>
                <a:spcPts val="300"/>
              </a:spcBef>
              <a:defRPr sz="1100">
                <a:solidFill>
                  <a:srgbClr val="F1F5F9"/>
                </a:solidFill>
                <a:latin typeface="맑은 고딕"/>
              </a:defRPr>
            </a:pPr>
            <a:r>
              <a:t>3. 달성률 95% 미만 항목 적색 경고 및 3줄 요약 브리핑 복사 버튼</a:t>
            </a:r>
          </a:p>
          <a:p>
            <a:pPr>
              <a:spcBef>
                <a:spcPts val="300"/>
              </a:spcBef>
              <a:defRPr sz="1100">
                <a:solidFill>
                  <a:srgbClr val="F1F5F9"/>
                </a:solidFill>
                <a:latin typeface="맑은 고딕"/>
              </a:defRPr>
            </a:pPr>
          </a:p>
          <a:p>
            <a:pPr>
              <a:spcBef>
                <a:spcPts val="300"/>
              </a:spcBef>
              <a:defRPr sz="1100">
                <a:solidFill>
                  <a:srgbClr val="F1F5F9"/>
                </a:solidFill>
                <a:latin typeface="맑은 고딕"/>
              </a:defRPr>
            </a:pPr>
            <a:r>
              <a:t>먼저 CLAUDE.md와 sales_performance_sample.csv를 만들고,</a:t>
            </a:r>
          </a:p>
          <a:p>
            <a:pPr>
              <a:spcBef>
                <a:spcPts val="300"/>
              </a:spcBef>
              <a:defRPr sz="1100">
                <a:solidFill>
                  <a:srgbClr val="F1F5F9"/>
                </a:solidFill>
                <a:latin typeface="맑은 고딕"/>
              </a:defRPr>
            </a:pPr>
            <a:r>
              <a:t>단일 파일로 완결된 index.html을 작성해 주세요.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  <a:latin typeface="맑은 고딕"/>
              </a:defRPr>
            </a:pPr>
            <a:r>
              <a:t>대기업 제조사 AX 핵심인재 양성 교육 (Claude Code 바이브코딩 PBL)  |  DAY 1 (11/2 월) 바이브코딩 기본기 및 MVP 설계  |  Slide 6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201168"/>
            <a:ext cx="2194560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Session 3 · MVP 범위 설정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14시간 안에 무조건 완주하는 'MVP 다이어트' 법칙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360" y="201168"/>
            <a:ext cx="8686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94A3B8"/>
                </a:solidFill>
                <a:latin typeface="맑은 고딕"/>
              </a:defRPr>
            </a:pPr>
            <a:r>
              <a:t>1일차 기획서 초안에서 '거품'을 빼고 '핵심 가치 1~2개'만 남깁니다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5394959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536192"/>
            <a:ext cx="4992623" cy="4142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  <a:latin typeface="맑은 고딕"/>
              </a:defRPr>
            </a:pPr>
            <a:r>
              <a:t>✅ 반드시 포함할 것 (In-Scope · Must Have)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가명 처리된 CSV/Excel 파일 업로드 및 샘플 데이터 자동 로드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내 직무의 핵심 계산 로직 1~2개 (편차, 달성률, ROAS, 마진율 등)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이상치/점검 대상 자동 하이라이트 및 조건별 필터링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결과 요약 리포트 문구 생성, CSV 저장 또는 인쇄용 깔끔한 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19" y="1371600"/>
            <a:ext cx="5394959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7" y="1536192"/>
            <a:ext cx="4992623" cy="4142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  <a:latin typeface="맑은 고딕"/>
              </a:defRPr>
            </a:pPr>
            <a:r>
              <a:t>❌ 과감히 덜어낼 것 (Out-of-Scope · 현업 복귀 후 검토)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사내 ERP / SAP / MES 시스템과 실시간 API 직접 연결 (보안 승인 필요)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임직원 로그인/회원가입 및 부서별 권한 관리 시스템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복잡한 백엔드 DB 서버 구축 및 실시간 다중 사용자 동시 편집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5개 이상의 복잡한 메뉴 탭 (한 화면 대시보드에 집중!)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925312"/>
            <a:ext cx="11064240" cy="438912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0F172A"/>
                </a:solidFill>
                <a:latin typeface="맑은 고딕"/>
              </a:defRPr>
            </a:pPr>
            <a:r>
              <a:t>💡 핵심 포인트: 좋은 MVP는 '모든 기능이 있는 미완성품'이 아니라, '핵심 기능 1~2개가 완벽히 돌아가는 도구'입니다.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  <a:latin typeface="맑은 고딕"/>
              </a:defRPr>
            </a:pPr>
            <a:r>
              <a:t>대기업 제조사 AX 핵심인재 양성 교육 (Claude Code 바이브코딩 PBL)  |  DAY 1 (11/2 월) 바이브코딩 기본기 및 MVP 설계  |  Slide 7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201168"/>
            <a:ext cx="2194560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Session 4 · 프롬프트 설계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비전공자를 위한 5요소 구조화 프롬프트 공식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360" y="201168"/>
            <a:ext cx="8686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94A3B8"/>
                </a:solidFill>
                <a:latin typeface="맑은 고딕"/>
              </a:defRPr>
            </a:pPr>
            <a:r>
              <a:t>역할 · 업무맥락 · 입출력 데이터 · 핵심기능 · 제약조건을 명확히 전달합니다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411480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3749039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  <a:latin typeface="맑은 고딕"/>
              </a:defRPr>
            </a:pPr>
            <a:r>
              <a:t>프롬프트 5대 필수 구성요소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맑은 고딕"/>
              </a:defRPr>
            </a:pPr>
            <a:r>
              <a:t>✔ 1. 역할(Role): 제조기업 OO직무 자동화 전문가 &amp; 웹 개발자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맑은 고딕"/>
              </a:defRPr>
            </a:pPr>
            <a:r>
              <a:t>✔ 2. 맥락(Context): 누가, 어떤 반복 업무의 비효율을 줄이려 하는가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맑은 고딕"/>
              </a:defRPr>
            </a:pPr>
            <a:r>
              <a:t>✔ 3. 입출력(I/O): CSV의 정확한 컬럼명과 화면에 보여줄 요약 지표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맑은 고딕"/>
              </a:defRPr>
            </a:pPr>
            <a:r>
              <a:t>✔ 4. 핵심기능(Core): 계산 공식(예: 실집행/예산*100)과 색상 강조 기준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맑은 고딕"/>
              </a:defRPr>
            </a:pPr>
            <a:r>
              <a:t>✔ 5. 제약조건(Constraints): 서버 없이 로컬 실행, 한글 인코딩 호환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92040" y="1371600"/>
            <a:ext cx="6720840" cy="48463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74920" y="1508760"/>
            <a:ext cx="6355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60A5FA"/>
                </a:solidFill>
                <a:latin typeface="맑은 고딕"/>
              </a:defRPr>
            </a:pPr>
            <a:r>
              <a:t>📋 실습 ① Plan 모드용 요구사항 정의 프롬프트</a:t>
            </a:r>
          </a:p>
          <a:p>
            <a:pPr>
              <a:spcBef>
                <a:spcPts val="300"/>
              </a:spcBef>
              <a:defRPr sz="1100">
                <a:solidFill>
                  <a:srgbClr val="F1F5F9"/>
                </a:solidFill>
                <a:latin typeface="맑은 고딕"/>
              </a:defRPr>
            </a:pPr>
            <a:r>
              <a:t>당신은 기업 업무 자동화 전문가이자 웹 개발자입니다.</a:t>
            </a:r>
          </a:p>
          <a:p>
            <a:pPr>
              <a:spcBef>
                <a:spcPts val="300"/>
              </a:spcBef>
              <a:defRPr sz="1100">
                <a:solidFill>
                  <a:srgbClr val="F1F5F9"/>
                </a:solidFill>
                <a:latin typeface="맑은 고딕"/>
              </a:defRPr>
            </a:pPr>
          </a:p>
          <a:p>
            <a:pPr>
              <a:spcBef>
                <a:spcPts val="300"/>
              </a:spcBef>
              <a:defRPr sz="1100">
                <a:solidFill>
                  <a:srgbClr val="F1F5F9"/>
                </a:solidFill>
                <a:latin typeface="맑은 고딕"/>
              </a:defRPr>
            </a:pPr>
            <a:r>
              <a:t>[업무 배경] 나는 제조기업의 재무 담당자입니다.</a:t>
            </a:r>
          </a:p>
          <a:p>
            <a:pPr>
              <a:spcBef>
                <a:spcPts val="300"/>
              </a:spcBef>
              <a:defRPr sz="1100">
                <a:solidFill>
                  <a:srgbClr val="F1F5F9"/>
                </a:solidFill>
                <a:latin typeface="맑은 고딕"/>
              </a:defRPr>
            </a:pPr>
            <a:r>
              <a:t>매월 부서별 예산과 실제 집행 내역을 비교하는 데 5시간이 걸립니다.</a:t>
            </a:r>
          </a:p>
          <a:p>
            <a:pPr>
              <a:spcBef>
                <a:spcPts val="300"/>
              </a:spcBef>
              <a:defRPr sz="1100">
                <a:solidFill>
                  <a:srgbClr val="F1F5F9"/>
                </a:solidFill>
                <a:latin typeface="맑은 고딕"/>
              </a:defRPr>
            </a:pPr>
            <a:r>
              <a:t>[입력 데이터] 연월, 부서명, 계정과목, 예산액, 실집행액, 전월집행액</a:t>
            </a:r>
          </a:p>
          <a:p>
            <a:pPr>
              <a:spcBef>
                <a:spcPts val="300"/>
              </a:spcBef>
              <a:defRPr sz="1100">
                <a:solidFill>
                  <a:srgbClr val="F1F5F9"/>
                </a:solidFill>
                <a:latin typeface="맑은 고딕"/>
              </a:defRPr>
            </a:pPr>
            <a:r>
              <a:t>[핵심 기능]</a:t>
            </a:r>
          </a:p>
          <a:p>
            <a:pPr>
              <a:spcBef>
                <a:spcPts val="300"/>
              </a:spcBef>
              <a:defRPr sz="1100">
                <a:solidFill>
                  <a:srgbClr val="F1F5F9"/>
                </a:solidFill>
                <a:latin typeface="맑은 고딕"/>
              </a:defRPr>
            </a:pPr>
            <a:r>
              <a:t>1. CSV 업로드 시 예산 대비 편차와 소진율(%) 자동 계산</a:t>
            </a:r>
          </a:p>
          <a:p>
            <a:pPr>
              <a:spcBef>
                <a:spcPts val="300"/>
              </a:spcBef>
              <a:defRPr sz="1100">
                <a:solidFill>
                  <a:srgbClr val="F1F5F9"/>
                </a:solidFill>
                <a:latin typeface="맑은 고딕"/>
              </a:defRPr>
            </a:pPr>
            <a:r>
              <a:t>2. 소진율 100% 초과 항목 적색 표시 및 초과 항목만 필터링</a:t>
            </a:r>
          </a:p>
          <a:p>
            <a:pPr>
              <a:spcBef>
                <a:spcPts val="300"/>
              </a:spcBef>
              <a:defRPr sz="1100">
                <a:solidFill>
                  <a:srgbClr val="F1F5F9"/>
                </a:solidFill>
                <a:latin typeface="맑은 고딕"/>
              </a:defRPr>
            </a:pPr>
            <a:r>
              <a:t>[제약조건] 서버/DB 없이 로컬 브라우저 실행, 가명 샘플 데이터 포함</a:t>
            </a:r>
          </a:p>
          <a:p>
            <a:pPr>
              <a:spcBef>
                <a:spcPts val="300"/>
              </a:spcBef>
              <a:defRPr sz="1100">
                <a:solidFill>
                  <a:srgbClr val="F1F5F9"/>
                </a:solidFill>
                <a:latin typeface="맑은 고딕"/>
              </a:defRPr>
            </a:pPr>
          </a:p>
          <a:p>
            <a:pPr>
              <a:spcBef>
                <a:spcPts val="300"/>
              </a:spcBef>
              <a:defRPr sz="1100">
                <a:solidFill>
                  <a:srgbClr val="F1F5F9"/>
                </a:solidFill>
                <a:latin typeface="맑은 고딕"/>
              </a:defRPr>
            </a:pPr>
            <a:r>
              <a:t>아직 코드는 작성하지 마세요. 개발 계획과 테스트 방법을 먼저 제안하세요.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  <a:latin typeface="맑은 고딕"/>
              </a:defRPr>
            </a:pPr>
            <a:r>
              <a:t>대기업 제조사 AX 핵심인재 양성 교육 (Claude Code 바이브코딩 PBL)  |  DAY 1 (11/2 월) 바이브코딩 기본기 및 MVP 설계  |  Slide 8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201168"/>
            <a:ext cx="2194560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Session 5~6 · PBL &amp; 코칭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1차 MVP 구현 실습 및 조별 순회 코칭 가이드 (16:00~18:00)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360" y="201168"/>
            <a:ext cx="8686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94A3B8"/>
                </a:solidFill>
                <a:latin typeface="맑은 고딕"/>
              </a:defRPr>
            </a:pPr>
            <a:r>
              <a:t>오늘 저녁 6시 전까지 내 PC 브라우저에 첫 번째 동작 화면(v1)을 띄웁니다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35052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536192"/>
            <a:ext cx="3102864" cy="4142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  <a:latin typeface="맑은 고딕"/>
              </a:defRPr>
            </a:pPr>
            <a:r>
              <a:t>Step 1. 과제 정의서 v1 &amp; CLAUDE.md 작성 (20분)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배포된 [실습 템플릿 1]에 내 과제의 입력 컬럼과 핵심 기능 2개 기입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내 프로젝트 폴더 생성 후 `CLAUDE.md` 파일 저장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8160" y="1371600"/>
            <a:ext cx="35052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9328" y="1536192"/>
            <a:ext cx="3102864" cy="4142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  <a:latin typeface="맑은 고딕"/>
              </a:defRPr>
            </a:pPr>
            <a:r>
              <a:t>Step 2. 샘플 CSV 및 1차 화면 생성 (50분)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Claude Code에 가명 샘플 데이터 30행(`sample.csv`) 생성 지시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상단 요약 카드 4개 + 데이터 표가 나오는 `index.html` 1차 구현 및 실행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7680" y="1371600"/>
            <a:ext cx="35052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8848" y="1536192"/>
            <a:ext cx="3102864" cy="4142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  <a:latin typeface="맑은 고딕"/>
              </a:defRPr>
            </a:pPr>
            <a:r>
              <a:t>Step 3. 조별 순회 코칭 (5개 조 × 10분)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강사와 함께 현재 화면 점검 및 과도한 기능 범위 다이어트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초기 실행 오류 즉석 해결 및 다음 주(DAY 2)까지 해올 과제 확인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925312"/>
            <a:ext cx="11064240" cy="438912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0F172A"/>
                </a:solidFill>
                <a:latin typeface="맑은 고딕"/>
              </a:defRPr>
            </a:pPr>
            <a:r>
              <a:t>💡 핵심 포인트: DAY 1 종료 체크: ① CLAUDE.md ② 가명 샘플 CSV ③ 브라우저에서 열리는 index.html v1 화면!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  <a:latin typeface="맑은 고딕"/>
              </a:defRPr>
            </a:pPr>
            <a:r>
              <a:t>대기업 제조사 AX 핵심인재 양성 교육 (Claude Code 바이브코딩 PBL)  |  DAY 1 (11/2 월) 바이브코딩 기본기 및 MVP 설계  |  Slide 9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